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b5438a880134ac7" /><Relationship Type="http://schemas.openxmlformats.org/officeDocument/2006/relationships/extended-properties" Target="/docProps/app.xml" Id="R2c602f0ce6644973" /><Relationship Type="http://schemas.openxmlformats.org/officeDocument/2006/relationships/officeDocument" Target="/ppt/presentation.xml" Id="R1a0a7147dd464ff7" /></Relationships>
</file>

<file path=ppt/presentation.xml><?xml version="1.0" encoding="utf-8"?>
<p:presentation xmlns:p="http://schemas.openxmlformats.org/presentationml/2006/main">
  <p:sldMasterIdLst>
    <p:sldMasterId xmlns:r="http://schemas.openxmlformats.org/officeDocument/2006/relationships" id="2147483648" r:id="Rb1e6b0a09fdb4aa6"/>
  </p:sldMasterIdLst>
  <p:notesMasterIdLst>
    <p:notesMasterId xmlns:r="http://schemas.openxmlformats.org/officeDocument/2006/relationships" r:id="Ra7827f9370ff4011"/>
  </p:notesMasterIdLst>
  <p:sldIdLst>
    <p:sldId xmlns:r="http://schemas.openxmlformats.org/officeDocument/2006/relationships" id="256" r:id="R69fed9cd3d8d4c04"/>
    <p:sldId xmlns:r="http://schemas.openxmlformats.org/officeDocument/2006/relationships" id="257" r:id="R39b560bd6f054a76"/>
    <p:sldId xmlns:r="http://schemas.openxmlformats.org/officeDocument/2006/relationships" id="258" r:id="R90593609ab9e437c"/>
    <p:sldId xmlns:r="http://schemas.openxmlformats.org/officeDocument/2006/relationships" id="259" r:id="Rb255c1da23d845d9"/>
    <p:sldId xmlns:r="http://schemas.openxmlformats.org/officeDocument/2006/relationships" id="260" r:id="Raaa276d0eb444f2a"/>
    <p:sldId xmlns:r="http://schemas.openxmlformats.org/officeDocument/2006/relationships" id="261" r:id="Rac5bb0cec3624135"/>
    <p:sldId xmlns:r="http://schemas.openxmlformats.org/officeDocument/2006/relationships" id="262" r:id="R462729e6515a4368"/>
    <p:sldId xmlns:r="http://schemas.openxmlformats.org/officeDocument/2006/relationships" id="263" r:id="Rbcfd0a90db484ca7"/>
    <p:sldId xmlns:r="http://schemas.openxmlformats.org/officeDocument/2006/relationships" id="264" r:id="Rfad6f2a00bef4a60"/>
    <p:sldId xmlns:r="http://schemas.openxmlformats.org/officeDocument/2006/relationships" id="265" r:id="R06d39c1eb3464e31"/>
    <p:sldId xmlns:r="http://schemas.openxmlformats.org/officeDocument/2006/relationships" id="266" r:id="Rd70edfb512444a52"/>
    <p:sldId xmlns:r="http://schemas.openxmlformats.org/officeDocument/2006/relationships" id="267" r:id="R6e48e38cce354634"/>
    <p:sldId xmlns:r="http://schemas.openxmlformats.org/officeDocument/2006/relationships" id="268" r:id="R540b28d978714676"/>
    <p:sldId xmlns:r="http://schemas.openxmlformats.org/officeDocument/2006/relationships" id="269" r:id="Rc4d7a2c81fc449cc"/>
    <p:sldId xmlns:r="http://schemas.openxmlformats.org/officeDocument/2006/relationships" id="270" r:id="R8ba9547cc7e64608"/>
    <p:sldId xmlns:r="http://schemas.openxmlformats.org/officeDocument/2006/relationships" id="271" r:id="R4db48cddb70b4a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124a199f3f4bed" /><Relationship Type="http://schemas.openxmlformats.org/officeDocument/2006/relationships/slideMaster" Target="/ppt/slideMasters/slideMaster1.xml" Id="Rb1e6b0a09fdb4aa6" /><Relationship Type="http://schemas.openxmlformats.org/officeDocument/2006/relationships/notesMaster" Target="/ppt/notesMasters/notesMaster1.xml" Id="Ra7827f9370ff4011" /><Relationship Type="http://schemas.openxmlformats.org/officeDocument/2006/relationships/presProps" Target="/ppt/presProps.xml" Id="R0c961d6c50704e34" /><Relationship Type="http://schemas.openxmlformats.org/officeDocument/2006/relationships/tableStyles" Target="/ppt/tableStyles.xml" Id="Rb1dc5c546f494095" /><Relationship Type="http://schemas.openxmlformats.org/officeDocument/2006/relationships/slide" Target="/ppt/slides/slide1.xml" Id="R69fed9cd3d8d4c04" /><Relationship Type="http://schemas.openxmlformats.org/officeDocument/2006/relationships/slide" Target="/ppt/slides/slide2.xml" Id="R39b560bd6f054a76" /><Relationship Type="http://schemas.openxmlformats.org/officeDocument/2006/relationships/slide" Target="/ppt/slides/slide3.xml" Id="R90593609ab9e437c" /><Relationship Type="http://schemas.openxmlformats.org/officeDocument/2006/relationships/slide" Target="/ppt/slides/slide4.xml" Id="Rb255c1da23d845d9" /><Relationship Type="http://schemas.openxmlformats.org/officeDocument/2006/relationships/slide" Target="/ppt/slides/slide5.xml" Id="Raaa276d0eb444f2a" /><Relationship Type="http://schemas.openxmlformats.org/officeDocument/2006/relationships/slide" Target="/ppt/slides/slide6.xml" Id="Rac5bb0cec3624135" /><Relationship Type="http://schemas.openxmlformats.org/officeDocument/2006/relationships/slide" Target="/ppt/slides/slide7.xml" Id="R462729e6515a4368" /><Relationship Type="http://schemas.openxmlformats.org/officeDocument/2006/relationships/slide" Target="/ppt/slides/slide8.xml" Id="Rbcfd0a90db484ca7" /><Relationship Type="http://schemas.openxmlformats.org/officeDocument/2006/relationships/slide" Target="/ppt/slides/slide9.xml" Id="Rfad6f2a00bef4a60" /><Relationship Type="http://schemas.openxmlformats.org/officeDocument/2006/relationships/slide" Target="/ppt/slides/slide10.xml" Id="R06d39c1eb3464e31" /><Relationship Type="http://schemas.openxmlformats.org/officeDocument/2006/relationships/slide" Target="/ppt/slides/slide11.xml" Id="Rd70edfb512444a52" /><Relationship Type="http://schemas.openxmlformats.org/officeDocument/2006/relationships/slide" Target="/ppt/slides/slide12.xml" Id="R6e48e38cce354634" /><Relationship Type="http://schemas.openxmlformats.org/officeDocument/2006/relationships/slide" Target="/ppt/slides/slide13.xml" Id="R540b28d978714676" /><Relationship Type="http://schemas.openxmlformats.org/officeDocument/2006/relationships/slide" Target="/ppt/slides/slide14.xml" Id="Rc4d7a2c81fc449cc" /><Relationship Type="http://schemas.openxmlformats.org/officeDocument/2006/relationships/slide" Target="/ppt/slides/slide15.xml" Id="R8ba9547cc7e64608" /><Relationship Type="http://schemas.openxmlformats.org/officeDocument/2006/relationships/slide" Target="/ppt/slides/slide16.xml" Id="R4db48cddb70b4a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405221ca1141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b20c3c244b4b2f" /><Relationship Type="http://schemas.openxmlformats.org/officeDocument/2006/relationships/notesMaster" Target="/ppt/notesMasters/notesMaster1.xml" Id="R3b39d2ba2b7047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e8f456b6134d5b" /><Relationship Type="http://schemas.openxmlformats.org/officeDocument/2006/relationships/notesMaster" Target="/ppt/notesMasters/notesMaster1.xml" Id="R7307d7806b3f4b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8d6fd018dc4c0b" /><Relationship Type="http://schemas.openxmlformats.org/officeDocument/2006/relationships/notesMaster" Target="/ppt/notesMasters/notesMaster1.xml" Id="R371f39e230814a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f8bd43b8dc41c7" /><Relationship Type="http://schemas.openxmlformats.org/officeDocument/2006/relationships/notesMaster" Target="/ppt/notesMasters/notesMaster1.xml" Id="Rc6b7ada54b9440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97251819934025" /><Relationship Type="http://schemas.openxmlformats.org/officeDocument/2006/relationships/notesMaster" Target="/ppt/notesMasters/notesMaster1.xml" Id="R5d3fb33b5de740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de4616d9f74fa5" /><Relationship Type="http://schemas.openxmlformats.org/officeDocument/2006/relationships/notesMaster" Target="/ppt/notesMasters/notesMaster1.xml" Id="R9014e4917fe446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443abd17074b71" /><Relationship Type="http://schemas.openxmlformats.org/officeDocument/2006/relationships/notesMaster" Target="/ppt/notesMasters/notesMaster1.xml" Id="R4d7a5bee436540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69dad894cb441d" /><Relationship Type="http://schemas.openxmlformats.org/officeDocument/2006/relationships/notesMaster" Target="/ppt/notesMasters/notesMaster1.xml" Id="R059124a084594a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7f64dd97004d69" /><Relationship Type="http://schemas.openxmlformats.org/officeDocument/2006/relationships/notesMaster" Target="/ppt/notesMasters/notesMaster1.xml" Id="R29d995defcfe46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d3d4a605834ae3" /><Relationship Type="http://schemas.openxmlformats.org/officeDocument/2006/relationships/notesMaster" Target="/ppt/notesMasters/notesMaster1.xml" Id="R9547332870a640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fec8c5a4b846ea" /><Relationship Type="http://schemas.openxmlformats.org/officeDocument/2006/relationships/notesMaster" Target="/ppt/notesMasters/notesMaster1.xml" Id="R4aa302a9cd9f4c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d1234d71124586" /><Relationship Type="http://schemas.openxmlformats.org/officeDocument/2006/relationships/notesMaster" Target="/ppt/notesMasters/notesMaster1.xml" Id="R99b18b0129c746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aadefec4154816" /><Relationship Type="http://schemas.openxmlformats.org/officeDocument/2006/relationships/notesMaster" Target="/ppt/notesMasters/notesMaster1.xml" Id="Rb2081973d8104d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882bc01d274914" /><Relationship Type="http://schemas.openxmlformats.org/officeDocument/2006/relationships/notesMaster" Target="/ppt/notesMasters/notesMaster1.xml" Id="Rcb49f34f3b0c44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31d50ccc854f41" /><Relationship Type="http://schemas.openxmlformats.org/officeDocument/2006/relationships/notesMaster" Target="/ppt/notesMasters/notesMaster1.xml" Id="R7c65b30c497444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f934cc755d4203" /><Relationship Type="http://schemas.openxmlformats.org/officeDocument/2006/relationships/notesMaster" Target="/ppt/notesMasters/notesMaster1.xml" Id="Ra5bc3f350ac144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GStar Assignment 2. Students implement forward operators from scratch, beginning with a PyTorch mathematical foundation and progressing to Triton kernels. The final target is chunked Kimi Delta Attention (KDA). The assignment folder contains all starter code, local references and student documentation. Source: README.md and docs/00_overview.pdf.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diagram to trace token t. Softmax attention appends its current key and value to the visible cache. The query compares with every visible key and combines the values. P1 instead writes an outer product into a fixed matrix before the query reads it. These are different attention operators. The matrix combines associations and does not preserve arbitrary tokens as separately addressable entries. State/cache counts exclude all weights and temporary buffers. Source figure: docs/figures/overview_memory_mechanism.pdf; handout/motivation.tex; P1.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Efficiency comes from several architectural and systems choices. In the recurrent layers, bounded attention/state-space memory avoids a growing token KV cache and can reduce long-context history traffic. This can improve batch capacity and decoding throughput. Full-attention layers in these hybrid models still retain token-dependent caches, so model-wide memory is not constant. Sparse MoE activates a subset of parameters per token; lower precision, MTP/speculative decoding, optimized GPU kernels and serving choices also contribute. This slide does not claim uniform speedups, measured prices, or that linear attention alone causes low API prices.</a:t>
            </a:r>
          </a:p>
          <a:p xmlns:a="http://schemas.openxmlformats.org/drawingml/2006/main">
            <a:r>
              <a:t>Qwen3-Next uses Gated DeltaNet with full Gated Attention and activates 3B of 80B parameters. Source: https://huggingface.co/Qwen/Qwen3-Next-80B-A3B-Instruct/blob/main/README.md and https://qwen.ai/blog?id=qwen3-next .</a:t>
            </a:r>
          </a:p>
          <a:p xmlns:a="http://schemas.openxmlformats.org/drawingml/2006/main">
            <a:r>
              <a:t>Kimi K3 combines KDA with Gated MLA, activates 104B of 2.8T parameters, and supports low-precision inference. Source: https://github.com/MoonshotAI/Kimi-K3 .</a:t>
            </a:r>
          </a:p>
          <a:p xmlns:a="http://schemas.openxmlformats.org/drawingml/2006/main">
            <a:r>
              <a:t>Nemotron 3 Super combines Mamba-2 state-space layers, full attention and Latent MoE, with 12B active of 120B total parameters. Mamba-2 is a related linear-time SSM; it is not a GDN or KDA layer. Source: https://developer.nvidia.com/blog/introducing-nemotron-3-super-an-open-hybrid-mamba-transformer-moe-for-agentic-reasoning/ .</a:t>
            </a:r>
          </a:p>
          <a:p xmlns:a="http://schemas.openxmlformats.org/drawingml/2006/main">
            <a:r>
              <a:t>Logo sources and files: docs/slides/assets/brand_sources.json. Logos identify the model providers.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https://github.com/MoonshotAI/Kimi-K3 and https://huggingface.co/moonshotai/Kimi-K3/blob/main/config.json . Bundled provenance and formulas: docs/data/kimi_k3_memory_config.json, docs/data/README.md and docs/data/kimi_k3_memory_estimates.json. For one request at 2^20 tokens, 24 compressed MLA caches plus 69 KDA current matrices require 27.404296875 GiB. Counterfactual: replace all 69 KDA layers with the same compressed-cache MLA, giving 93 MLA layers and 104.625 GiB. Storage reduction is 73.8071%. This retains MLA compression. This is an analytical storage estimate, not measured VRAM or a trained ablation. Assumptions: BF16 MLA cache, FP32 KDA matrices, before sharding. Excludes weights, convolution states, temporary buffers, padding, extra checkpoints and 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proceed in problem order. P1: sequential and chunked PyTorch linear attention. P2: recurrent linear Triton. P3: chunked linear Triton. P4: GLA recurrence, chunk-local channel prefix scan and chunk state/output. P5: recurrent DeltaNet. P6: triangular inverse, WY factors and chunked DeltaNet, with P3 output reuse. P7: recurrent/chunked Gated DeltaNet. P8: recurrent KDA and stable channel-gated scores. P9: complete chunked KDA. Source: README.md, The nine problems; each problem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 attention changes the operator from softmax attention. Its matrix state merges key/value associations, so it does not preserve arbitrary past tokens as individually addressable entries. The state dimensions are independent of the token count. Read after the current write. P1 implements recurrent and chunked forms in PyTorch. Query scaling is omitted from mathematical notation. Source: docs/problem_1.pdf and problem_1.py.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 implements the same additive memory as P1 using Triton. Each program owns one value-column tile, updates its own state and reduces over key channels for the query read. Programs need no cross-program reduction for separate value columns. The token loop remains sequential within each program. State is updated before output. Query scaling is omitted from mathematical notation. Source: docs/problem_2.pdf and problem_2.py.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token recurrence is convenient for decoding but serial over the prompt. P3 builds entry states for each chunk and then launches output programs independently across chunks. Each output combines an entry-memory read with local inclusive causal interactions. This is exact regrouping of the same linear operator, not truncation of context. Boundary states are saved intermediates; current recurrent state size remains fixed. Query scaling is omitted from mathematical notation. Source: docs/problem_3.pdf and problem_3.py.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Additive memory retains every write, and associations can interfere. GLA attenuates existing memory before adding the new association. This changes retention without changing state shape. Students implement recurrent decay, the chunk-local prefix scan, and chunked state/output transport. This slide deliberately uses no gate plots or numerical decay visualization. Query scaling is omitted from mathematical notation. Source: docs/problem_4.pdf and problem_4.py.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scalar example: unit key, unit query, no forgetting, beta=1 and zero initial state. First target is 3 and second target is 7. Additive memory reads 10 after the second write. DeltaNet predicts 3 and writes the residual 4, so the keyed read becomes 7. Exact replacement requires a unit-norm key and beta=1; correlated keys may still interfere. P5 implements prediction, residual write and updated query read. Query scaling is omitted from mathematical notation. Source: docs/problem_5.pdf and problem_5.py.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Delta corrections are dependent: token 2 predicts from the state after token 1's correction. Independently predicting all tokens from a chunk entry would give different writes. A strict lower-triangular system encodes these dependencies. P6 implements its inverse, forms compact W/U factors and computes P=U-W S_in for the actual chunk entry. It reuses P3's output kernel. Do not claim the entire sequence becomes independent or all operations run in parallel. Query scaling is omitted from mathematical notation. Source: docs/problem_6.pdf and problem_6.py.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Forgetting and delta correction have different roles. Delta correction changes the association addressed by the current key; directions orthogonal to that key remain unchanged. Scalar forgetting affects the whole previous state. Gated DeltaNet forgets first, then predicts from the decayed state and writes its residual. P7 combines these in recurrent and chunked forms using the P6 inverse. No gate plot is shown. Query scaling is omitted from mathematical notation. Source: docs/problem_7.pdf and problem_7.py.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KDA makes forgetting channel-wise while retaining the delta correction. Key channels form a learned representation; they are not named human facts or separate token slots. The diagonal forgetting precedes the residual prediction and rank-one correction; changing that order changes the operator. P8 implements recurrent KDA and stable channel-aware score construction with secondary tiling. No gate values, gate diagrams, retention curves or matrix-order visualizations are shown. Query scaling is omitted from mathematical notation. Source: docs/problem_8.pdf and problem_8.py.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P9 combines the scan from P4, triangular inverse from P6, and score primitive from P8. It builds chunk-local W/U factors, uses the entry state to compute actual pseudo-values, advances memory and reads outputs. Chunk-local factor construction is separate from the sequential entry-state dependence. The completed operator must match the independent recurrence for outputs and final state, including segmented calls. Query scaling is omitted from mathematical notation. Source: docs/problem_9.pdf and problem_9.py.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Problems contain named masked regions. Students preserve signatures and region markers. P1 may run on CPU with PyTorch. P2–P9 require CUDA and Triton. reference.py uses an independent sequential recurrence. The checker compares outputs and final state, checks intermediate factors, validates state passing across non-boundary splits, covers unequal dimensions and nonzero state, partial chunks, gates, query scales and padding. Correctness and performance are distinct. Benchmark only after correctness. Public tolerances remain provisional pending instructor GPU calibration. Source: docs/10_verification.pdf, autograder.py, README.md. No backward implementation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first session: read docs/00_overview.pdf and the mathematical background in docs/problem_1.pdf. Implement the named P1 regions, preserving APIs. Run the CPU P1 checker from the assignment folder. Then prepare the Linux/CUDA/Triton environment and proceed to P2. The documentation index lists separate PDFs for each problem, verification and implementation reference. Source: README.md and docs/README.md. Independent numerical checks do not certify that a required chunked kernel was actually used, so students should also explain the required implementation and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1c3b2fd02342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d7ac3eda1440a5" /><Relationship Type="http://schemas.openxmlformats.org/officeDocument/2006/relationships/slideLayout" Target="/ppt/slideLayouts/slideLayout1.xml" Id="R737ed6639d954b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7ed6639d954b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cf77cca3c34ce0" /><Relationship Type="http://schemas.openxmlformats.org/officeDocument/2006/relationships/notesSlide" Target="/ppt/notesSlides/notesSlide1.xml" Id="Re5e4d544f43648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47ee0df4a944fc" /><Relationship Type="http://schemas.openxmlformats.org/officeDocument/2006/relationships/image" Target="/ppt/media/image.png" Id="R67088f8516c8462e" /><Relationship Type="http://schemas.openxmlformats.org/officeDocument/2006/relationships/notesSlide" Target="/ppt/notesSlides/notesSlide2.xml" Id="R80cdc8e55abc49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ecc6413ea841dd" /><Relationship Type="http://schemas.openxmlformats.org/officeDocument/2006/relationships/image" Target="/ppt/media/image2.png" Id="R781b490d2d4a4730" /><Relationship Type="http://schemas.openxmlformats.org/officeDocument/2006/relationships/image" Target="/ppt/media/image3.png" Id="R248697b2dec04d67" /><Relationship Type="http://schemas.openxmlformats.org/officeDocument/2006/relationships/image" Target="/ppt/media/image4.png" Id="Re8194ba4b7344e0d" /><Relationship Type="http://schemas.openxmlformats.org/officeDocument/2006/relationships/notesSlide" Target="/ppt/notesSlides/notesSlide3.xml" Id="Re1054b82cc0d42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8b7ed005524eba" /><Relationship Type="http://schemas.openxmlformats.org/officeDocument/2006/relationships/chart" Target="/ppt/slides/charts/chart1.xml" Id="Rc33d3ae2ce4a4b9e" /><Relationship Type="http://schemas.openxmlformats.org/officeDocument/2006/relationships/notesSlide" Target="/ppt/notesSlides/notesSlide4.xml" Id="Rc5c20e493fa94a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2e122f402d4a40" /><Relationship Type="http://schemas.openxmlformats.org/officeDocument/2006/relationships/notesSlide" Target="/ppt/notesSlides/notesSlide5.xml" Id="R67690cf7755741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83c3e5270c4222" /><Relationship Type="http://schemas.openxmlformats.org/officeDocument/2006/relationships/notesSlide" Target="/ppt/notesSlides/notesSlide6.xml" Id="Raff743ab5dfa46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c358051b134168" /><Relationship Type="http://schemas.openxmlformats.org/officeDocument/2006/relationships/notesSlide" Target="/ppt/notesSlides/notesSlide7.xml" Id="Rf631694c8c1840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c2c032d08f45c7" /><Relationship Type="http://schemas.openxmlformats.org/officeDocument/2006/relationships/notesSlide" Target="/ppt/notesSlides/notesSlide8.xml" Id="R61108265cf1e4f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b2fa2bbc8b438c" /><Relationship Type="http://schemas.openxmlformats.org/officeDocument/2006/relationships/notesSlide" Target="/ppt/notesSlides/notesSlide9.xml" Id="R8d53def6cc0541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a3bad53ff04441" /><Relationship Type="http://schemas.openxmlformats.org/officeDocument/2006/relationships/notesSlide" Target="/ppt/notesSlides/notesSlide10.xml" Id="R860d016b24fc4d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b4f9d1caf8482b" /><Relationship Type="http://schemas.openxmlformats.org/officeDocument/2006/relationships/notesSlide" Target="/ppt/notesSlides/notesSlide11.xml" Id="R8d9e4f98e2154d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4f7ed0aabf4bae" /><Relationship Type="http://schemas.openxmlformats.org/officeDocument/2006/relationships/notesSlide" Target="/ppt/notesSlides/notesSlide12.xml" Id="R1860b3e9f6c646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ff5a80f3934039" /><Relationship Type="http://schemas.openxmlformats.org/officeDocument/2006/relationships/notesSlide" Target="/ppt/notesSlides/notesSlide13.xml" Id="R4f7eed8f9e6140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13ba42d1784396" /><Relationship Type="http://schemas.openxmlformats.org/officeDocument/2006/relationships/notesSlide" Target="/ppt/notesSlides/notesSlide14.xml" Id="R8662c9feb24748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b1fc009d44c4e29" /><Relationship Type="http://schemas.openxmlformats.org/officeDocument/2006/relationships/notesSlide" Target="/ppt/notesSlides/notesSlide15.xml" Id="Ra6feb2449134454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ab66f39f6bc4e59" /><Relationship Type="http://schemas.openxmlformats.org/officeDocument/2006/relationships/notesSlide" Target="/ppt/notesSlides/notesSlide16.xml" Id="R1db659d24caf4f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Attention-history storage</c:v>
          </c:tx>
          <c:dPt>
            <c:idx val="0"/>
            <c:invertIfNegative val="0"/>
            <c:spPr>
              <a:solidFill xmlns:a="http://schemas.openxmlformats.org/drawingml/2006/main">
                <a:srgbClr val="24634B"/>
              </a:solidFill>
            </c:spPr>
          </c:dPt>
          <c:dPt>
            <c:idx val="1"/>
            <c:invertIfNegative val="0"/>
            <c:spPr>
              <a:solidFill xmlns:a="http://schemas.openxmlformats.org/drawingml/2006/main">
                <a:srgbClr val="A63D32"/>
              </a:solidFill>
            </c:spPr>
          </c:dPt>
          <c:cat>
            <c:strRef>
              <c:f>'Chart Data'!$A$2:$A$3</c:f>
              <c:strCache>
                <c:ptCount val="2"/>
                <c:pt idx="0">
                  <c:v>With KDA</c:v>
                </c:pt>
                <c:pt idx="1">
                  <c:v>Without KDA</c:v>
                </c:pt>
              </c:strCache>
            </c:strRef>
          </c:cat>
          <c:val>
            <c:numRef>
              <c:f>'Chart Data'!$B$2:$B$3</c:f>
              <c:numCache>
                <c:formatCode>0.0</c:formatCode>
                <c:ptCount val="2"/>
                <c:pt idx="0">
                  <c:v>27.404296875</c:v>
                </c:pt>
                <c:pt idx="1">
                  <c:v>104.625</c:v>
                </c:pt>
              </c:numCache>
            </c:numRef>
          </c:val>
        </c:ser>
        <c:dLbls>
          <c:txPr>
            <a:bodyPr xmlns:a="http://schemas.openxmlformats.org/drawingml/2006/main" anchorCtr="1"/>
            <a:lstStyle xmlns:a="http://schemas.openxmlformats.org/drawingml/2006/main"/>
            <a:p xmlns:a="http://schemas.openxmlformats.org/drawingml/2006/main">
              <a:pPr>
                <a:defRPr sz="2100">
                  <a:solidFill>
                    <a:srgbClr val="202124"/>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BEC2"/>
            </a:solidFill>
          </a:ln>
        </c:spPr>
        <c:txPr>
          <a:bodyPr xmlns:a="http://schemas.openxmlformats.org/drawingml/2006/main" anchorCtr="1"/>
          <a:lstStyle xmlns:a="http://schemas.openxmlformats.org/drawingml/2006/main"/>
          <a:p xmlns:a="http://schemas.openxmlformats.org/drawingml/2006/main">
            <a:pPr>
              <a:defRPr sz="1725">
                <a:solidFill>
                  <a:srgbClr val="202124"/>
                </a:solidFill>
                <a:latin typeface="Helvetica Neue"/>
                <a:ea typeface="Helvetica Neue"/>
                <a:cs typeface="Helvetica Neue"/>
              </a:defRPr>
            </a:pPr>
          </a:p>
        </c:txPr>
        <c:crossAx val="48672768"/>
      </c:catAx>
      <c:valAx>
        <c:axId val="48672768"/>
        <c:scaling>
          <c:orientation val="minMax"/>
          <c:max val="120"/>
          <c:min val="0"/>
        </c:scaling>
        <c:delete val="0"/>
        <c:axPos val="l"/>
        <c:majorGridlines>
          <c:spPr>
            <a:ln xmlns:a="http://schemas.openxmlformats.org/drawingml/2006/main" w="9525">
              <a:solidFill>
                <a:srgbClr val="E1E5E7"/>
              </a:solidFill>
            </a:ln>
          </c:spPr>
        </c:majorGridlines>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GiB</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66C70"/>
                </a:solidFill>
                <a:latin typeface="Helvetica Neue"/>
                <a:ea typeface="Helvetica Neue"/>
                <a:cs typeface="Helvetica Neue"/>
              </a:defRPr>
            </a:pPr>
          </a:p>
        </c:txPr>
        <c:crossAx val="48650112"/>
        <c:crossBetween val="between"/>
        <c:majorUnit val="4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B689855-BB7D-4B2E-830C-25BEC7903BC8}"/>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088670C1-DEB2-47D9-BD67-610415D75947}"/>
              </a:ext>
            </a:extLst>
          </p:cNvPr>
          <p:cNvSpPr>
            <a:spLocks xmlns:a="http://schemas.openxmlformats.org/drawingml/2006/main" noGrp="1"/>
          </p:cNvSpPr>
          <p:nvPr/>
        </p:nvSpPr>
        <p:spPr>
          <a:xfrm xmlns:a="http://schemas.openxmlformats.org/drawingml/2006/main">
            <a:off x="723900" y="12573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4634B"/>
                </a:solidFill>
                <a:latin typeface="Helvetica Neue"/>
                <a:ea typeface="Helvetica Neue"/>
                <a:cs typeface="Helvetica Neue"/>
              </a:defRPr>
            </a:pPr>
            <a:r>
              <a:rPr sz="2250" b="0">
                <a:solidFill>
                  <a:srgbClr val="24634B"/>
                </a:solidFill>
                <a:latin typeface="Helvetica Neue"/>
                <a:ea typeface="Helvetica Neue"/>
                <a:cs typeface="Helvetica Neue"/>
              </a:rPr>
              <a:t>GStar Assignment 2</a:t>
            </a:r>
          </a:p>
        </p:txBody>
      </p:sp>
      <p:sp>
        <p:nvSpPr>
          <p:cNvPr id="3" name="">
            <a:extLst xmlns:a="http://schemas.openxmlformats.org/drawingml/2006/main">
              <a:ext uri="{FF2B5EF4-FFF2-40B4-BE49-F238E27FC236}">
                <a16:creationId xmlns:a16="http://schemas.microsoft.com/office/drawing/2014/main" id="{E0F1C7FC-3421-4DB2-A7FB-1ECF571ABEE1}"/>
              </a:ext>
            </a:extLst>
          </p:cNvPr>
          <p:cNvSpPr>
            <a:spLocks xmlns:a="http://schemas.openxmlformats.org/drawingml/2006/main" noGrp="1"/>
          </p:cNvSpPr>
          <p:nvPr/>
        </p:nvSpPr>
        <p:spPr>
          <a:xfrm xmlns:a="http://schemas.openxmlformats.org/drawingml/2006/main">
            <a:off x="685800" y="2143125"/>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0">
                <a:solidFill>
                  <a:srgbClr val="202124"/>
                </a:solidFill>
                <a:latin typeface="Helvetica Neue"/>
                <a:ea typeface="Helvetica Neue"/>
                <a:cs typeface="Helvetica Neue"/>
              </a:defRPr>
            </a:pPr>
            <a:r>
              <a:rPr sz="4950" b="0">
                <a:solidFill>
                  <a:srgbClr val="202124"/>
                </a:solidFill>
                <a:latin typeface="Helvetica Neue"/>
                <a:ea typeface="Helvetica Neue"/>
                <a:cs typeface="Helvetica Neue"/>
              </a:rPr>
              <a:t>Linear attention</a:t>
            </a:r>
          </a:p>
          <a:p xmlns:a="http://schemas.openxmlformats.org/drawingml/2006/main">
            <a:pPr>
              <a:defRPr sz="4950" b="0">
                <a:solidFill>
                  <a:srgbClr val="202124"/>
                </a:solidFill>
                <a:latin typeface="Helvetica Neue"/>
                <a:ea typeface="Helvetica Neue"/>
                <a:cs typeface="Helvetica Neue"/>
              </a:defRPr>
            </a:pPr>
            <a:r>
              <a:rPr sz="4950" b="0">
                <a:solidFill>
                  <a:srgbClr val="202124"/>
                </a:solidFill>
                <a:latin typeface="Helvetica Neue"/>
                <a:ea typeface="Helvetica Neue"/>
                <a:cs typeface="Helvetica Neue"/>
              </a:rPr>
              <a:t>and Kimi Delta Attention</a:t>
            </a:r>
          </a:p>
        </p:txBody>
      </p:sp>
      <p:sp>
        <p:nvSpPr>
          <p:cNvPr id="4" name="">
            <a:extLst xmlns:a="http://schemas.openxmlformats.org/drawingml/2006/main">
              <a:ext uri="{FF2B5EF4-FFF2-40B4-BE49-F238E27FC236}">
                <a16:creationId xmlns:a16="http://schemas.microsoft.com/office/drawing/2014/main" id="{8C16FCF6-46A7-4BB7-954B-AEDD60A0AA71}"/>
              </a:ext>
            </a:extLst>
          </p:cNvPr>
          <p:cNvSpPr>
            <a:spLocks xmlns:a="http://schemas.openxmlformats.org/drawingml/2006/main" noGrp="1"/>
          </p:cNvSpPr>
          <p:nvPr/>
        </p:nvSpPr>
        <p:spPr>
          <a:xfrm xmlns:a="http://schemas.openxmlformats.org/drawingml/2006/main">
            <a:off x="723900" y="4714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666C70"/>
                </a:solidFill>
                <a:latin typeface="Helvetica Neue"/>
                <a:ea typeface="Helvetica Neue"/>
                <a:cs typeface="Helvetica Neue"/>
              </a:defRPr>
            </a:pPr>
            <a:r>
              <a:rPr sz="2325" b="0">
                <a:solidFill>
                  <a:srgbClr val="666C70"/>
                </a:solidFill>
                <a:latin typeface="Helvetica Neue"/>
                <a:ea typeface="Helvetica Neue"/>
                <a:cs typeface="Helvetica Neue"/>
              </a:rPr>
              <a:t>Forward kernels from scratch</a:t>
            </a:r>
          </a:p>
        </p:txBody>
      </p:sp>
    </p:spTree>
    <p:extLst>
      <p:ext uri="{BB962C8B-B14F-4D97-AF65-F5344CB8AC3E}">
        <p14:creationId xmlns:p14="http://schemas.microsoft.com/office/powerpoint/2010/main" val="8005488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E8DDFE-7D32-4E62-8BE6-95E653DE0935}"/>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Two ways to carry history</a:t>
            </a:r>
          </a:p>
        </p:txBody>
      </p:sp>
      <p:sp>
        <p:nvSpPr>
          <p:cNvPr id="2" name="">
            <a:extLst xmlns:a="http://schemas.openxmlformats.org/drawingml/2006/main">
              <a:ext uri="{FF2B5EF4-FFF2-40B4-BE49-F238E27FC236}">
                <a16:creationId xmlns:a16="http://schemas.microsoft.com/office/drawing/2014/main" id="{F533EBA8-23A1-49E2-8AB0-EB1F85847199}"/>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7088f8516c8462e"/>
          <a:stretch xmlns:a="http://schemas.openxmlformats.org/drawingml/2006/main"/>
        </p:blipFill>
        <p:spPr>
          <a:xfrm xmlns:a="http://schemas.openxmlformats.org/drawingml/2006/main">
            <a:off x="866066" y="1409700"/>
            <a:ext cx="6440319" cy="5095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6D2A0D6-99D9-4270-ACCD-45FB54A0A32A}"/>
              </a:ext>
            </a:extLst>
          </p:cNvPr>
          <p:cNvSpPr>
            <a:spLocks xmlns:a="http://schemas.openxmlformats.org/drawingml/2006/main" noGrp="1"/>
          </p:cNvSpPr>
          <p:nvPr/>
        </p:nvSpPr>
        <p:spPr>
          <a:xfrm xmlns:a="http://schemas.openxmlformats.org/drawingml/2006/main">
            <a:off x="8096250" y="18669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A63D32"/>
                </a:solidFill>
                <a:latin typeface="Helvetica Neue"/>
                <a:ea typeface="Helvetica Neue"/>
                <a:cs typeface="Helvetica Neue"/>
              </a:defRPr>
            </a:pPr>
            <a:r>
              <a:rPr sz="2325" b="0">
                <a:solidFill>
                  <a:srgbClr val="A63D32"/>
                </a:solidFill>
                <a:latin typeface="Helvetica Neue"/>
                <a:ea typeface="Helvetica Neue"/>
                <a:cs typeface="Helvetica Neue"/>
              </a:rPr>
              <a:t>Token cache</a:t>
            </a:r>
          </a:p>
        </p:txBody>
      </p:sp>
      <p:sp>
        <p:nvSpPr>
          <p:cNvPr id="5" name="">
            <a:extLst xmlns:a="http://schemas.openxmlformats.org/drawingml/2006/main">
              <a:ext uri="{FF2B5EF4-FFF2-40B4-BE49-F238E27FC236}">
                <a16:creationId xmlns:a16="http://schemas.microsoft.com/office/drawing/2014/main" id="{687FA22C-6B4F-40E1-A3D1-E3F9DBF0577C}"/>
              </a:ext>
            </a:extLst>
          </p:cNvPr>
          <p:cNvSpPr>
            <a:spLocks xmlns:a="http://schemas.openxmlformats.org/drawingml/2006/main" noGrp="1"/>
          </p:cNvSpPr>
          <p:nvPr/>
        </p:nvSpPr>
        <p:spPr>
          <a:xfrm xmlns:a="http://schemas.openxmlformats.org/drawingml/2006/main">
            <a:off x="8096250" y="24193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124"/>
                </a:solidFill>
                <a:latin typeface="Helvetica Neue"/>
                <a:ea typeface="Helvetica Neue"/>
                <a:cs typeface="Helvetica Neue"/>
              </a:defRPr>
            </a:pPr>
            <a:r>
              <a:rPr sz="2100" b="0">
                <a:solidFill>
                  <a:srgbClr val="202124"/>
                </a:solidFill>
                <a:latin typeface="Helvetica Neue"/>
                <a:ea typeface="Helvetica Neue"/>
                <a:cs typeface="Helvetica Neue"/>
              </a:rPr>
              <a:t>Each new token adds</a:t>
            </a:r>
          </a:p>
          <a:p xmlns:a="http://schemas.openxmlformats.org/drawingml/2006/main">
            <a:pPr>
              <a:defRPr sz="2100" b="0">
                <a:solidFill>
                  <a:srgbClr val="202124"/>
                </a:solidFill>
                <a:latin typeface="Helvetica Neue"/>
                <a:ea typeface="Helvetica Neue"/>
                <a:cs typeface="Helvetica Neue"/>
              </a:defRPr>
            </a:pPr>
            <a:r>
              <a:rPr sz="2100" b="0">
                <a:solidFill>
                  <a:srgbClr val="202124"/>
                </a:solidFill>
                <a:latin typeface="Helvetica Neue"/>
                <a:ea typeface="Helvetica Neue"/>
                <a:cs typeface="Helvetica Neue"/>
              </a:rPr>
              <a:t>a key and a value.</a:t>
            </a:r>
          </a:p>
        </p:txBody>
      </p:sp>
      <p:sp>
        <p:nvSpPr>
          <p:cNvPr id="6" name="">
            <a:extLst xmlns:a="http://schemas.openxmlformats.org/drawingml/2006/main">
              <a:ext uri="{FF2B5EF4-FFF2-40B4-BE49-F238E27FC236}">
                <a16:creationId xmlns:a16="http://schemas.microsoft.com/office/drawing/2014/main" id="{362BCE3A-F339-4D65-900E-14D55D8B41A3}"/>
              </a:ext>
            </a:extLst>
          </p:cNvPr>
          <p:cNvSpPr>
            <a:spLocks xmlns:a="http://schemas.openxmlformats.org/drawingml/2006/main" noGrp="1"/>
          </p:cNvSpPr>
          <p:nvPr/>
        </p:nvSpPr>
        <p:spPr>
          <a:xfrm xmlns:a="http://schemas.openxmlformats.org/drawingml/2006/main">
            <a:off x="8096250" y="37433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4634B"/>
                </a:solidFill>
                <a:latin typeface="Helvetica Neue"/>
                <a:ea typeface="Helvetica Neue"/>
                <a:cs typeface="Helvetica Neue"/>
              </a:defRPr>
            </a:pPr>
            <a:r>
              <a:rPr sz="2325" b="0">
                <a:solidFill>
                  <a:srgbClr val="24634B"/>
                </a:solidFill>
                <a:latin typeface="Helvetica Neue"/>
                <a:ea typeface="Helvetica Neue"/>
                <a:cs typeface="Helvetica Neue"/>
              </a:rPr>
              <a:t>Matrix memory</a:t>
            </a:r>
          </a:p>
        </p:txBody>
      </p:sp>
      <p:sp>
        <p:nvSpPr>
          <p:cNvPr id="7" name="">
            <a:extLst xmlns:a="http://schemas.openxmlformats.org/drawingml/2006/main">
              <a:ext uri="{FF2B5EF4-FFF2-40B4-BE49-F238E27FC236}">
                <a16:creationId xmlns:a16="http://schemas.microsoft.com/office/drawing/2014/main" id="{3B8BFB1F-09EC-4355-B6D0-7697BA1F4D0C}"/>
              </a:ext>
            </a:extLst>
          </p:cNvPr>
          <p:cNvSpPr>
            <a:spLocks xmlns:a="http://schemas.openxmlformats.org/drawingml/2006/main" noGrp="1"/>
          </p:cNvSpPr>
          <p:nvPr/>
        </p:nvSpPr>
        <p:spPr>
          <a:xfrm xmlns:a="http://schemas.openxmlformats.org/drawingml/2006/main">
            <a:off x="8096250" y="42957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124"/>
                </a:solidFill>
                <a:latin typeface="Helvetica Neue"/>
                <a:ea typeface="Helvetica Neue"/>
                <a:cs typeface="Helvetica Neue"/>
              </a:defRPr>
            </a:pPr>
            <a:r>
              <a:rPr sz="2100" b="0">
                <a:solidFill>
                  <a:srgbClr val="202124"/>
                </a:solidFill>
                <a:latin typeface="Helvetica Neue"/>
                <a:ea typeface="Helvetica Neue"/>
                <a:cs typeface="Helvetica Neue"/>
              </a:rPr>
              <a:t>Each new token changes</a:t>
            </a:r>
          </a:p>
          <a:p xmlns:a="http://schemas.openxmlformats.org/drawingml/2006/main">
            <a:pPr>
              <a:defRPr sz="2100" b="0">
                <a:solidFill>
                  <a:srgbClr val="202124"/>
                </a:solidFill>
                <a:latin typeface="Helvetica Neue"/>
                <a:ea typeface="Helvetica Neue"/>
                <a:cs typeface="Helvetica Neue"/>
              </a:defRPr>
            </a:pPr>
            <a:r>
              <a:rPr sz="2100" b="0">
                <a:solidFill>
                  <a:srgbClr val="202124"/>
                </a:solidFill>
                <a:latin typeface="Helvetica Neue"/>
                <a:ea typeface="Helvetica Neue"/>
                <a:cs typeface="Helvetica Neue"/>
              </a:rPr>
              <a:t>the same-sized state.</a:t>
            </a:r>
          </a:p>
        </p:txBody>
      </p:sp>
    </p:spTree>
    <p:extLst>
      <p:ext uri="{BB962C8B-B14F-4D97-AF65-F5344CB8AC3E}">
        <p14:creationId xmlns:p14="http://schemas.microsoft.com/office/powerpoint/2010/main" val="103792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47D9332-4E4C-4A57-9E25-84DC46C14DE1}"/>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Efficient inference in frontier models</a:t>
            </a:r>
          </a:p>
        </p:txBody>
      </p:sp>
      <p:sp>
        <p:nvSpPr>
          <p:cNvPr id="2" name="">
            <a:extLst xmlns:a="http://schemas.openxmlformats.org/drawingml/2006/main">
              <a:ext uri="{FF2B5EF4-FFF2-40B4-BE49-F238E27FC236}">
                <a16:creationId xmlns:a16="http://schemas.microsoft.com/office/drawing/2014/main" id="{0B6A782F-8E23-4BE5-ADA7-BA7D137A8E22}"/>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425B26FE-543F-44EE-BAA0-A5301B3FCDA9}"/>
              </a:ext>
            </a:extLst>
          </p:cNvPr>
          <p:cNvSpPr>
            <a:spLocks xmlns:a="http://schemas.openxmlformats.org/drawingml/2006/main" noGrp="1"/>
          </p:cNvSpPr>
          <p:nvPr/>
        </p:nvSpPr>
        <p:spPr>
          <a:xfrm xmlns:a="http://schemas.openxmlformats.org/drawingml/2006/main">
            <a:off x="723900" y="13811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66C70"/>
                </a:solidFill>
                <a:latin typeface="Helvetica Neue"/>
                <a:ea typeface="Helvetica Neue"/>
                <a:cs typeface="Helvetica Neue"/>
              </a:defRPr>
            </a:pPr>
            <a:r>
              <a:rPr sz="2100" b="0">
                <a:solidFill>
                  <a:srgbClr val="666C70"/>
                </a:solidFill>
                <a:latin typeface="Helvetica Neue"/>
                <a:ea typeface="Helvetica Neue"/>
                <a:cs typeface="Helvetica Neue"/>
              </a:rPr>
              <a:t>Recurrent state stays the same size as context grows.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81b490d2d4a4730"/>
          <a:stretch xmlns:a="http://schemas.openxmlformats.org/drawingml/2006/main"/>
        </p:blipFill>
        <p:spPr>
          <a:xfrm xmlns:a="http://schemas.openxmlformats.org/drawingml/2006/main">
            <a:off x="723900" y="2177653"/>
            <a:ext cx="2857500" cy="359569"/>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48697b2dec04d67"/>
          <a:stretch xmlns:a="http://schemas.openxmlformats.org/drawingml/2006/main"/>
        </p:blipFill>
        <p:spPr>
          <a:xfrm xmlns:a="http://schemas.openxmlformats.org/drawingml/2006/main">
            <a:off x="4524375" y="2124075"/>
            <a:ext cx="2857500" cy="4667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8194ba4b7344e0d"/>
          <a:stretch xmlns:a="http://schemas.openxmlformats.org/drawingml/2006/main"/>
        </p:blipFill>
        <p:spPr>
          <a:xfrm xmlns:a="http://schemas.openxmlformats.org/drawingml/2006/main">
            <a:off x="8201025" y="1476375"/>
            <a:ext cx="3048000" cy="1714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91D35C8-B7B7-4EE7-9571-80B48E892C91}"/>
              </a:ext>
            </a:extLst>
          </p:cNvPr>
          <p:cNvSpPr>
            <a:spLocks xmlns:a="http://schemas.openxmlformats.org/drawingml/2006/main" noGrp="1"/>
          </p:cNvSpPr>
          <p:nvPr/>
        </p:nvSpPr>
        <p:spPr>
          <a:xfrm xmlns:a="http://schemas.openxmlformats.org/drawingml/2006/main">
            <a:off x="723900" y="307657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124"/>
                </a:solidFill>
                <a:latin typeface="Helvetica Neue"/>
                <a:ea typeface="Helvetica Neue"/>
                <a:cs typeface="Helvetica Neue"/>
              </a:defRPr>
            </a:pPr>
            <a:r>
              <a:rPr sz="2400" b="0">
                <a:solidFill>
                  <a:srgbClr val="202124"/>
                </a:solidFill>
                <a:latin typeface="Helvetica Neue"/>
                <a:ea typeface="Helvetica Neue"/>
                <a:cs typeface="Helvetica Neue"/>
              </a:rPr>
              <a:t>Qwen3-Next</a:t>
            </a:r>
          </a:p>
        </p:txBody>
      </p:sp>
      <p:sp>
        <p:nvSpPr>
          <p:cNvPr id="8" name="">
            <a:extLst xmlns:a="http://schemas.openxmlformats.org/drawingml/2006/main">
              <a:ext uri="{FF2B5EF4-FFF2-40B4-BE49-F238E27FC236}">
                <a16:creationId xmlns:a16="http://schemas.microsoft.com/office/drawing/2014/main" id="{52A9E724-9E8C-47B9-9201-F29391D1FCF4}"/>
              </a:ext>
            </a:extLst>
          </p:cNvPr>
          <p:cNvSpPr>
            <a:spLocks xmlns:a="http://schemas.openxmlformats.org/drawingml/2006/main" noGrp="1"/>
          </p:cNvSpPr>
          <p:nvPr/>
        </p:nvSpPr>
        <p:spPr>
          <a:xfrm xmlns:a="http://schemas.openxmlformats.org/drawingml/2006/main">
            <a:off x="723900" y="37147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634B"/>
                </a:solidFill>
                <a:latin typeface="Helvetica Neue"/>
                <a:ea typeface="Helvetica Neue"/>
                <a:cs typeface="Helvetica Neue"/>
              </a:defRPr>
            </a:pPr>
            <a:r>
              <a:rPr sz="1950" b="0">
                <a:solidFill>
                  <a:srgbClr val="24634B"/>
                </a:solidFill>
                <a:latin typeface="Helvetica Neue"/>
                <a:ea typeface="Helvetica Neue"/>
                <a:cs typeface="Helvetica Neue"/>
              </a:rPr>
              <a:t>Gated DeltaNet (GDN)</a:t>
            </a:r>
          </a:p>
          <a:p xmlns:a="http://schemas.openxmlformats.org/drawingml/2006/main">
            <a:pPr>
              <a:defRPr sz="1950" b="0">
                <a:solidFill>
                  <a:srgbClr val="24634B"/>
                </a:solidFill>
                <a:latin typeface="Helvetica Neue"/>
                <a:ea typeface="Helvetica Neue"/>
                <a:cs typeface="Helvetica Neue"/>
              </a:defRPr>
            </a:pPr>
            <a:r>
              <a:rPr sz="1950" b="0">
                <a:solidFill>
                  <a:srgbClr val="24634B"/>
                </a:solidFill>
                <a:latin typeface="Helvetica Neue"/>
                <a:ea typeface="Helvetica Neue"/>
                <a:cs typeface="Helvetica Neue"/>
              </a:rPr>
              <a:t>+ full attention</a:t>
            </a:r>
          </a:p>
        </p:txBody>
      </p:sp>
      <p:sp>
        <p:nvSpPr>
          <p:cNvPr id="9" name="">
            <a:extLst xmlns:a="http://schemas.openxmlformats.org/drawingml/2006/main">
              <a:ext uri="{FF2B5EF4-FFF2-40B4-BE49-F238E27FC236}">
                <a16:creationId xmlns:a16="http://schemas.microsoft.com/office/drawing/2014/main" id="{31ACCD1E-D9BD-4526-9FA4-8B52D1785EAD}"/>
              </a:ext>
            </a:extLst>
          </p:cNvPr>
          <p:cNvSpPr>
            <a:spLocks xmlns:a="http://schemas.openxmlformats.org/drawingml/2006/main" noGrp="1"/>
          </p:cNvSpPr>
          <p:nvPr/>
        </p:nvSpPr>
        <p:spPr>
          <a:xfrm xmlns:a="http://schemas.openxmlformats.org/drawingml/2006/main">
            <a:off x="723900" y="4581525"/>
            <a:ext cx="323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C70"/>
                </a:solidFill>
                <a:latin typeface="Helvetica Neue"/>
                <a:ea typeface="Helvetica Neue"/>
                <a:cs typeface="Helvetica Neue"/>
              </a:defRPr>
            </a:pPr>
            <a:r>
              <a:rPr sz="1650" b="0">
                <a:solidFill>
                  <a:srgbClr val="666C70"/>
                </a:solidFill>
                <a:latin typeface="Helvetica Neue"/>
                <a:ea typeface="Helvetica Neue"/>
                <a:cs typeface="Helvetica Neue"/>
              </a:rPr>
              <a:t>3B active / 80B total</a:t>
            </a:r>
          </a:p>
        </p:txBody>
      </p:sp>
      <p:sp>
        <p:nvSpPr>
          <p:cNvPr id="10" name="">
            <a:extLst xmlns:a="http://schemas.openxmlformats.org/drawingml/2006/main">
              <a:ext uri="{FF2B5EF4-FFF2-40B4-BE49-F238E27FC236}">
                <a16:creationId xmlns:a16="http://schemas.microsoft.com/office/drawing/2014/main" id="{7F1F0ECA-ED5C-43D7-8BEB-8C2079597937}"/>
              </a:ext>
            </a:extLst>
          </p:cNvPr>
          <p:cNvSpPr>
            <a:spLocks xmlns:a="http://schemas.openxmlformats.org/drawingml/2006/main" noGrp="1"/>
          </p:cNvSpPr>
          <p:nvPr/>
        </p:nvSpPr>
        <p:spPr>
          <a:xfrm xmlns:a="http://schemas.openxmlformats.org/drawingml/2006/main">
            <a:off x="4524375" y="307657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124"/>
                </a:solidFill>
                <a:latin typeface="Helvetica Neue"/>
                <a:ea typeface="Helvetica Neue"/>
                <a:cs typeface="Helvetica Neue"/>
              </a:defRPr>
            </a:pPr>
            <a:r>
              <a:rPr sz="2400" b="0">
                <a:solidFill>
                  <a:srgbClr val="202124"/>
                </a:solidFill>
                <a:latin typeface="Helvetica Neue"/>
                <a:ea typeface="Helvetica Neue"/>
                <a:cs typeface="Helvetica Neue"/>
              </a:rPr>
              <a:t>Kimi K3</a:t>
            </a:r>
          </a:p>
        </p:txBody>
      </p:sp>
      <p:sp>
        <p:nvSpPr>
          <p:cNvPr id="11" name="">
            <a:extLst xmlns:a="http://schemas.openxmlformats.org/drawingml/2006/main">
              <a:ext uri="{FF2B5EF4-FFF2-40B4-BE49-F238E27FC236}">
                <a16:creationId xmlns:a16="http://schemas.microsoft.com/office/drawing/2014/main" id="{9691B136-D7FA-475E-93F1-50680BF1D472}"/>
              </a:ext>
            </a:extLst>
          </p:cNvPr>
          <p:cNvSpPr>
            <a:spLocks xmlns:a="http://schemas.openxmlformats.org/drawingml/2006/main" noGrp="1"/>
          </p:cNvSpPr>
          <p:nvPr/>
        </p:nvSpPr>
        <p:spPr>
          <a:xfrm xmlns:a="http://schemas.openxmlformats.org/drawingml/2006/main">
            <a:off x="4524375" y="37147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634B"/>
                </a:solidFill>
                <a:latin typeface="Helvetica Neue"/>
                <a:ea typeface="Helvetica Neue"/>
                <a:cs typeface="Helvetica Neue"/>
              </a:defRPr>
            </a:pPr>
            <a:r>
              <a:rPr sz="1950" b="0">
                <a:solidFill>
                  <a:srgbClr val="24634B"/>
                </a:solidFill>
                <a:latin typeface="Helvetica Neue"/>
                <a:ea typeface="Helvetica Neue"/>
                <a:cs typeface="Helvetica Neue"/>
              </a:rPr>
              <a:t>Kimi Delta Attention (KDA)</a:t>
            </a:r>
          </a:p>
          <a:p xmlns:a="http://schemas.openxmlformats.org/drawingml/2006/main">
            <a:pPr>
              <a:defRPr sz="1950" b="0">
                <a:solidFill>
                  <a:srgbClr val="24634B"/>
                </a:solidFill>
                <a:latin typeface="Helvetica Neue"/>
                <a:ea typeface="Helvetica Neue"/>
                <a:cs typeface="Helvetica Neue"/>
              </a:defRPr>
            </a:pPr>
            <a:r>
              <a:rPr sz="1950" b="0">
                <a:solidFill>
                  <a:srgbClr val="24634B"/>
                </a:solidFill>
                <a:latin typeface="Helvetica Neue"/>
                <a:ea typeface="Helvetica Neue"/>
                <a:cs typeface="Helvetica Neue"/>
              </a:rPr>
              <a:t>+ full attention (MLA)</a:t>
            </a:r>
          </a:p>
        </p:txBody>
      </p:sp>
      <p:sp>
        <p:nvSpPr>
          <p:cNvPr id="12" name="">
            <a:extLst xmlns:a="http://schemas.openxmlformats.org/drawingml/2006/main">
              <a:ext uri="{FF2B5EF4-FFF2-40B4-BE49-F238E27FC236}">
                <a16:creationId xmlns:a16="http://schemas.microsoft.com/office/drawing/2014/main" id="{1F050BEA-0407-46FC-8F2C-B2662D595D50}"/>
              </a:ext>
            </a:extLst>
          </p:cNvPr>
          <p:cNvSpPr>
            <a:spLocks xmlns:a="http://schemas.openxmlformats.org/drawingml/2006/main" noGrp="1"/>
          </p:cNvSpPr>
          <p:nvPr/>
        </p:nvSpPr>
        <p:spPr>
          <a:xfrm xmlns:a="http://schemas.openxmlformats.org/drawingml/2006/main">
            <a:off x="4524375" y="4581525"/>
            <a:ext cx="323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C70"/>
                </a:solidFill>
                <a:latin typeface="Helvetica Neue"/>
                <a:ea typeface="Helvetica Neue"/>
                <a:cs typeface="Helvetica Neue"/>
              </a:defRPr>
            </a:pPr>
            <a:r>
              <a:rPr sz="1650" b="0">
                <a:solidFill>
                  <a:srgbClr val="666C70"/>
                </a:solidFill>
                <a:latin typeface="Helvetica Neue"/>
                <a:ea typeface="Helvetica Neue"/>
                <a:cs typeface="Helvetica Neue"/>
              </a:rPr>
              <a:t>104B active / 2.8T total</a:t>
            </a:r>
          </a:p>
        </p:txBody>
      </p:sp>
      <p:sp>
        <p:nvSpPr>
          <p:cNvPr id="13" name="">
            <a:extLst xmlns:a="http://schemas.openxmlformats.org/drawingml/2006/main">
              <a:ext uri="{FF2B5EF4-FFF2-40B4-BE49-F238E27FC236}">
                <a16:creationId xmlns:a16="http://schemas.microsoft.com/office/drawing/2014/main" id="{4219D88C-16F0-4321-9FB9-714D63377E8C}"/>
              </a:ext>
            </a:extLst>
          </p:cNvPr>
          <p:cNvSpPr>
            <a:spLocks xmlns:a="http://schemas.openxmlformats.org/drawingml/2006/main" noGrp="1"/>
          </p:cNvSpPr>
          <p:nvPr/>
        </p:nvSpPr>
        <p:spPr>
          <a:xfrm xmlns:a="http://schemas.openxmlformats.org/drawingml/2006/main">
            <a:off x="8334375" y="307657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124"/>
                </a:solidFill>
                <a:latin typeface="Helvetica Neue"/>
                <a:ea typeface="Helvetica Neue"/>
                <a:cs typeface="Helvetica Neue"/>
              </a:defRPr>
            </a:pPr>
            <a:r>
              <a:rPr sz="2400" b="0">
                <a:solidFill>
                  <a:srgbClr val="202124"/>
                </a:solidFill>
                <a:latin typeface="Helvetica Neue"/>
                <a:ea typeface="Helvetica Neue"/>
                <a:cs typeface="Helvetica Neue"/>
              </a:rPr>
              <a:t>Nemotron 3 Super</a:t>
            </a:r>
          </a:p>
        </p:txBody>
      </p:sp>
      <p:sp>
        <p:nvSpPr>
          <p:cNvPr id="14" name="">
            <a:extLst xmlns:a="http://schemas.openxmlformats.org/drawingml/2006/main">
              <a:ext uri="{FF2B5EF4-FFF2-40B4-BE49-F238E27FC236}">
                <a16:creationId xmlns:a16="http://schemas.microsoft.com/office/drawing/2014/main" id="{8943009E-B199-4976-B403-8DC84D24524D}"/>
              </a:ext>
            </a:extLst>
          </p:cNvPr>
          <p:cNvSpPr>
            <a:spLocks xmlns:a="http://schemas.openxmlformats.org/drawingml/2006/main" noGrp="1"/>
          </p:cNvSpPr>
          <p:nvPr/>
        </p:nvSpPr>
        <p:spPr>
          <a:xfrm xmlns:a="http://schemas.openxmlformats.org/drawingml/2006/main">
            <a:off x="8334375" y="37147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634B"/>
                </a:solidFill>
                <a:latin typeface="Helvetica Neue"/>
                <a:ea typeface="Helvetica Neue"/>
                <a:cs typeface="Helvetica Neue"/>
              </a:defRPr>
            </a:pPr>
            <a:r>
              <a:rPr sz="1950" b="0">
                <a:solidFill>
                  <a:srgbClr val="24634B"/>
                </a:solidFill>
                <a:latin typeface="Helvetica Neue"/>
                <a:ea typeface="Helvetica Neue"/>
                <a:cs typeface="Helvetica Neue"/>
              </a:rPr>
              <a:t>Mamba-2 state space</a:t>
            </a:r>
          </a:p>
          <a:p xmlns:a="http://schemas.openxmlformats.org/drawingml/2006/main">
            <a:pPr>
              <a:defRPr sz="1950" b="0">
                <a:solidFill>
                  <a:srgbClr val="24634B"/>
                </a:solidFill>
                <a:latin typeface="Helvetica Neue"/>
                <a:ea typeface="Helvetica Neue"/>
                <a:cs typeface="Helvetica Neue"/>
              </a:defRPr>
            </a:pPr>
            <a:r>
              <a:rPr sz="1950" b="0">
                <a:solidFill>
                  <a:srgbClr val="24634B"/>
                </a:solidFill>
                <a:latin typeface="Helvetica Neue"/>
                <a:ea typeface="Helvetica Neue"/>
                <a:cs typeface="Helvetica Neue"/>
              </a:rPr>
              <a:t>+ full attention</a:t>
            </a:r>
          </a:p>
        </p:txBody>
      </p:sp>
      <p:sp>
        <p:nvSpPr>
          <p:cNvPr id="15" name="">
            <a:extLst xmlns:a="http://schemas.openxmlformats.org/drawingml/2006/main">
              <a:ext uri="{FF2B5EF4-FFF2-40B4-BE49-F238E27FC236}">
                <a16:creationId xmlns:a16="http://schemas.microsoft.com/office/drawing/2014/main" id="{19681B64-4315-4A89-9008-3C87956CADD4}"/>
              </a:ext>
            </a:extLst>
          </p:cNvPr>
          <p:cNvSpPr>
            <a:spLocks xmlns:a="http://schemas.openxmlformats.org/drawingml/2006/main" noGrp="1"/>
          </p:cNvSpPr>
          <p:nvPr/>
        </p:nvSpPr>
        <p:spPr>
          <a:xfrm xmlns:a="http://schemas.openxmlformats.org/drawingml/2006/main">
            <a:off x="8334375" y="4581525"/>
            <a:ext cx="323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C70"/>
                </a:solidFill>
                <a:latin typeface="Helvetica Neue"/>
                <a:ea typeface="Helvetica Neue"/>
                <a:cs typeface="Helvetica Neue"/>
              </a:defRPr>
            </a:pPr>
            <a:r>
              <a:rPr sz="1650" b="0">
                <a:solidFill>
                  <a:srgbClr val="666C70"/>
                </a:solidFill>
                <a:latin typeface="Helvetica Neue"/>
                <a:ea typeface="Helvetica Neue"/>
                <a:cs typeface="Helvetica Neue"/>
              </a:rPr>
              <a:t>12B active / 120B total</a:t>
            </a:r>
          </a:p>
        </p:txBody>
      </p:sp>
      <p:sp>
        <p:nvSpPr>
          <p:cNvPr id="16" name="">
            <a:extLst xmlns:a="http://schemas.openxmlformats.org/drawingml/2006/main">
              <a:ext uri="{FF2B5EF4-FFF2-40B4-BE49-F238E27FC236}">
                <a16:creationId xmlns:a16="http://schemas.microsoft.com/office/drawing/2014/main" id="{156B99D9-8D18-4F99-8FE3-344EEAD4382A}"/>
              </a:ext>
            </a:extLst>
          </p:cNvPr>
          <p:cNvSpPr>
            <a:spLocks xmlns:a="http://schemas.openxmlformats.org/drawingml/2006/main" noGrp="1"/>
          </p:cNvSpPr>
          <p:nvPr/>
        </p:nvSpPr>
        <p:spPr>
          <a:xfrm xmlns:a="http://schemas.openxmlformats.org/drawingml/2006/main">
            <a:off x="723900" y="52578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4634B"/>
                </a:solidFill>
                <a:latin typeface="Helvetica Neue"/>
                <a:ea typeface="Helvetica Neue"/>
                <a:cs typeface="Helvetica Neue"/>
              </a:defRPr>
            </a:pPr>
            <a:r>
              <a:rPr sz="2175" b="0">
                <a:solidFill>
                  <a:srgbClr val="24634B"/>
                </a:solidFill>
                <a:latin typeface="Helvetica Neue"/>
                <a:ea typeface="Helvetica Neue"/>
                <a:cs typeface="Helvetica Neue"/>
              </a:rPr>
              <a:t>Less history to read can improve throughput and batch capacity.</a:t>
            </a:r>
          </a:p>
        </p:txBody>
      </p:sp>
      <p:sp>
        <p:nvSpPr>
          <p:cNvPr id="17" name="">
            <a:extLst xmlns:a="http://schemas.openxmlformats.org/drawingml/2006/main">
              <a:ext uri="{FF2B5EF4-FFF2-40B4-BE49-F238E27FC236}">
                <a16:creationId xmlns:a16="http://schemas.microsoft.com/office/drawing/2014/main" id="{8E0470EC-D7CE-41E4-87D6-7F222DD75D6A}"/>
              </a:ext>
            </a:extLst>
          </p:cNvPr>
          <p:cNvSpPr>
            <a:spLocks xmlns:a="http://schemas.openxmlformats.org/drawingml/2006/main" noGrp="1"/>
          </p:cNvSpPr>
          <p:nvPr/>
        </p:nvSpPr>
        <p:spPr>
          <a:xfrm xmlns:a="http://schemas.openxmlformats.org/drawingml/2006/main">
            <a:off x="723900" y="5762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124"/>
                </a:solidFill>
                <a:latin typeface="Helvetica Neue"/>
                <a:ea typeface="Helvetica Neue"/>
                <a:cs typeface="Helvetica Neue"/>
              </a:defRPr>
            </a:pPr>
            <a:r>
              <a:rPr sz="1800" b="0">
                <a:solidFill>
                  <a:srgbClr val="202124"/>
                </a:solidFill>
                <a:latin typeface="Helvetica Neue"/>
                <a:ea typeface="Helvetica Neue"/>
                <a:cs typeface="Helvetica Neue"/>
              </a:rPr>
              <a:t>Sparse MoE, lower precision and optimized kernels can also lower inference cost.</a:t>
            </a:r>
          </a:p>
        </p:txBody>
      </p:sp>
      <p:sp>
        <p:nvSpPr>
          <p:cNvPr id="18" name="">
            <a:extLst xmlns:a="http://schemas.openxmlformats.org/drawingml/2006/main">
              <a:ext uri="{FF2B5EF4-FFF2-40B4-BE49-F238E27FC236}">
                <a16:creationId xmlns:a16="http://schemas.microsoft.com/office/drawing/2014/main" id="{D2579418-D72C-46D9-B51A-92F43455F4CD}"/>
              </a:ext>
            </a:extLst>
          </p:cNvPr>
          <p:cNvSpPr>
            <a:spLocks xmlns:a="http://schemas.openxmlformats.org/drawingml/2006/main" noGrp="1"/>
          </p:cNvSpPr>
          <p:nvPr/>
        </p:nvSpPr>
        <p:spPr>
          <a:xfrm xmlns:a="http://schemas.openxmlformats.org/drawingml/2006/main">
            <a:off x="723900" y="621982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C70"/>
                </a:solidFill>
                <a:latin typeface="Helvetica Neue"/>
                <a:ea typeface="Helvetica Neue"/>
                <a:cs typeface="Helvetica Neue"/>
              </a:defRPr>
            </a:pPr>
            <a:r>
              <a:rPr sz="1425" b="0">
                <a:solidFill>
                  <a:srgbClr val="666C70"/>
                </a:solidFill>
                <a:latin typeface="Helvetica Neue"/>
                <a:ea typeface="Helvetica Neue"/>
                <a:cs typeface="Helvetica Neue"/>
              </a:rPr>
              <a:t>Nemotron uses a linear-time state-space model. All three retain full-attention layers.</a:t>
            </a:r>
          </a:p>
        </p:txBody>
      </p:sp>
    </p:spTree>
    <p:extLst>
      <p:ext uri="{BB962C8B-B14F-4D97-AF65-F5344CB8AC3E}">
        <p14:creationId xmlns:p14="http://schemas.microsoft.com/office/powerpoint/2010/main" val="11924566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C89F20-D941-40A0-9762-521B1117642C}"/>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Kimi K3 at one million tokens</a:t>
            </a:r>
          </a:p>
        </p:txBody>
      </p:sp>
      <p:sp>
        <p:nvSpPr>
          <p:cNvPr id="2" name="">
            <a:extLst xmlns:a="http://schemas.openxmlformats.org/drawingml/2006/main">
              <a:ext uri="{FF2B5EF4-FFF2-40B4-BE49-F238E27FC236}">
                <a16:creationId xmlns:a16="http://schemas.microsoft.com/office/drawing/2014/main" id="{E678832F-9C1C-4260-A719-98691360E966}"/>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04</a:t>
            </a:r>
          </a:p>
        </p:txBody>
      </p:sp>
      <p:graphicFrame>
        <p:nvGraphicFramePr>
          <p:cNvPr id="11" name="Chart"/>
          <p:cNvGraphicFramePr/>
          <p:nvPr/>
        </p:nvGraphicFramePr>
        <p:xfrm>
          <a:off xmlns:a="http://schemas.openxmlformats.org/drawingml/2006/main" x="685800" y="1524000"/>
          <a:ext xmlns:a="http://schemas.openxmlformats.org/drawingml/2006/main" cx="6858000" cy="4000500"/>
        </p:xfrm>
        <a:graphic xmlns:a="http://schemas.openxmlformats.org/drawingml/2006/main">
          <a:graphicData uri="http://schemas.openxmlformats.org/drawingml/2006/chart">
            <c:chart xmlns:r="http://schemas.openxmlformats.org/officeDocument/2006/relationships" xmlns:c="http://schemas.openxmlformats.org/drawingml/2006/chart" r:id="Rc33d3ae2ce4a4b9e"/>
          </a:graphicData>
        </a:graphic>
      </p:graphicFrame>
      <p:sp>
        <p:nvSpPr>
          <p:cNvPr id="4" name="">
            <a:extLst xmlns:a="http://schemas.openxmlformats.org/drawingml/2006/main">
              <a:ext uri="{FF2B5EF4-FFF2-40B4-BE49-F238E27FC236}">
                <a16:creationId xmlns:a16="http://schemas.microsoft.com/office/drawing/2014/main" id="{A4798392-DFBB-4388-8AD6-6E5656048F19}"/>
              </a:ext>
            </a:extLst>
          </p:cNvPr>
          <p:cNvSpPr>
            <a:spLocks xmlns:a="http://schemas.openxmlformats.org/drawingml/2006/main" noGrp="1"/>
          </p:cNvSpPr>
          <p:nvPr/>
        </p:nvSpPr>
        <p:spPr>
          <a:xfrm xmlns:a="http://schemas.openxmlformats.org/drawingml/2006/main">
            <a:off x="8334375" y="2066925"/>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0">
                <a:solidFill>
                  <a:srgbClr val="24634B"/>
                </a:solidFill>
                <a:latin typeface="Helvetica Neue"/>
                <a:ea typeface="Helvetica Neue"/>
                <a:cs typeface="Helvetica Neue"/>
              </a:defRPr>
            </a:pPr>
            <a:r>
              <a:rPr sz="6600" b="0">
                <a:solidFill>
                  <a:srgbClr val="24634B"/>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98DEE7BC-BD84-47D9-AC4D-DC46A55D034D}"/>
              </a:ext>
            </a:extLst>
          </p:cNvPr>
          <p:cNvSpPr>
            <a:spLocks xmlns:a="http://schemas.openxmlformats.org/drawingml/2006/main" noGrp="1"/>
          </p:cNvSpPr>
          <p:nvPr/>
        </p:nvSpPr>
        <p:spPr>
          <a:xfrm xmlns:a="http://schemas.openxmlformats.org/drawingml/2006/main">
            <a:off x="8382000" y="32289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124"/>
                </a:solidFill>
                <a:latin typeface="Helvetica Neue"/>
                <a:ea typeface="Helvetica Neue"/>
                <a:cs typeface="Helvetica Neue"/>
              </a:defRPr>
            </a:pPr>
            <a:r>
              <a:rPr sz="2250" b="0">
                <a:solidFill>
                  <a:srgbClr val="202124"/>
                </a:solidFill>
                <a:latin typeface="Helvetica Neue"/>
                <a:ea typeface="Helvetica Neue"/>
                <a:cs typeface="Helvetica Neue"/>
              </a:rPr>
              <a:t>less attention-history</a:t>
            </a:r>
          </a:p>
          <a:p xmlns:a="http://schemas.openxmlformats.org/drawingml/2006/main">
            <a:pPr>
              <a:defRPr sz="2250" b="0">
                <a:solidFill>
                  <a:srgbClr val="202124"/>
                </a:solidFill>
                <a:latin typeface="Helvetica Neue"/>
                <a:ea typeface="Helvetica Neue"/>
                <a:cs typeface="Helvetica Neue"/>
              </a:defRPr>
            </a:pPr>
            <a:r>
              <a:rPr sz="2250" b="0">
                <a:solidFill>
                  <a:srgbClr val="202124"/>
                </a:solidFill>
                <a:latin typeface="Helvetica Neue"/>
                <a:ea typeface="Helvetica Neue"/>
                <a:cs typeface="Helvetica Neue"/>
              </a:rPr>
              <a:t>storage</a:t>
            </a:r>
          </a:p>
        </p:txBody>
      </p:sp>
      <p:sp>
        <p:nvSpPr>
          <p:cNvPr id="6" name="">
            <a:extLst xmlns:a="http://schemas.openxmlformats.org/drawingml/2006/main">
              <a:ext uri="{FF2B5EF4-FFF2-40B4-BE49-F238E27FC236}">
                <a16:creationId xmlns:a16="http://schemas.microsoft.com/office/drawing/2014/main" id="{5332F004-8838-482D-B0CA-9AD33AC7B230}"/>
              </a:ext>
            </a:extLst>
          </p:cNvPr>
          <p:cNvSpPr>
            <a:spLocks xmlns:a="http://schemas.openxmlformats.org/drawingml/2006/main" noGrp="1"/>
          </p:cNvSpPr>
          <p:nvPr/>
        </p:nvSpPr>
        <p:spPr>
          <a:xfrm xmlns:a="http://schemas.openxmlformats.org/drawingml/2006/main">
            <a:off x="8382000" y="45434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6C70"/>
                </a:solidFill>
                <a:latin typeface="Helvetica Neue"/>
                <a:ea typeface="Helvetica Neue"/>
                <a:cs typeface="Helvetica Neue"/>
              </a:defRPr>
            </a:pPr>
            <a:r>
              <a:rPr sz="1725" b="0">
                <a:solidFill>
                  <a:srgbClr val="666C70"/>
                </a:solidFill>
                <a:latin typeface="Helvetica Neue"/>
                <a:ea typeface="Helvetica Neue"/>
                <a:cs typeface="Helvetica Neue"/>
              </a:rPr>
              <a:t>69 KDA + 24 MLA layers</a:t>
            </a:r>
          </a:p>
          <a:p xmlns:a="http://schemas.openxmlformats.org/drawingml/2006/main">
            <a:pPr>
              <a:defRPr sz="1725" b="0">
                <a:solidFill>
                  <a:srgbClr val="666C70"/>
                </a:solidFill>
                <a:latin typeface="Helvetica Neue"/>
                <a:ea typeface="Helvetica Neue"/>
                <a:cs typeface="Helvetica Neue"/>
              </a:defRPr>
            </a:pPr>
            <a:r>
              <a:rPr sz="1725" b="0">
                <a:solidFill>
                  <a:srgbClr val="666C70"/>
                </a:solidFill>
                <a:latin typeface="Helvetica Neue"/>
                <a:ea typeface="Helvetica Neue"/>
                <a:cs typeface="Helvetica Neue"/>
              </a:rPr>
              <a:t>versus 93 MLA layers</a:t>
            </a:r>
          </a:p>
        </p:txBody>
      </p:sp>
      <p:sp>
        <p:nvSpPr>
          <p:cNvPr id="7" name="">
            <a:extLst xmlns:a="http://schemas.openxmlformats.org/drawingml/2006/main">
              <a:ext uri="{FF2B5EF4-FFF2-40B4-BE49-F238E27FC236}">
                <a16:creationId xmlns:a16="http://schemas.microsoft.com/office/drawing/2014/main" id="{4C2BE96B-E505-4890-9E31-3EA9CDA0C7A0}"/>
              </a:ext>
            </a:extLst>
          </p:cNvPr>
          <p:cNvSpPr>
            <a:spLocks xmlns:a="http://schemas.openxmlformats.org/drawingml/2006/main" noGrp="1"/>
          </p:cNvSpPr>
          <p:nvPr/>
        </p:nvSpPr>
        <p:spPr>
          <a:xfrm xmlns:a="http://schemas.openxmlformats.org/drawingml/2006/main">
            <a:off x="723900" y="57435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C70"/>
                </a:solidFill>
                <a:latin typeface="Helvetica Neue"/>
                <a:ea typeface="Helvetica Neue"/>
                <a:cs typeface="Helvetica Neue"/>
              </a:defRPr>
            </a:pPr>
            <a:r>
              <a:rPr sz="1425" b="0">
                <a:solidFill>
                  <a:srgbClr val="666C70"/>
                </a:solidFill>
                <a:latin typeface="Helvetica Neue"/>
                <a:ea typeface="Helvetica Neue"/>
                <a:cs typeface="Helvetica Neue"/>
              </a:rPr>
              <a:t>One request at 2²⁰ tokens. Calculated storage, before sharding. The all-MLA case is hypothetical.</a:t>
            </a:r>
          </a:p>
        </p:txBody>
      </p:sp>
      <p:sp>
        <p:nvSpPr>
          <p:cNvPr id="8" name="">
            <a:extLst xmlns:a="http://schemas.openxmlformats.org/drawingml/2006/main">
              <a:ext uri="{FF2B5EF4-FFF2-40B4-BE49-F238E27FC236}">
                <a16:creationId xmlns:a16="http://schemas.microsoft.com/office/drawing/2014/main" id="{803F53F4-5108-42D6-A15D-85DCC381487A}"/>
              </a:ext>
            </a:extLst>
          </p:cNvPr>
          <p:cNvSpPr>
            <a:spLocks xmlns:a="http://schemas.openxmlformats.org/drawingml/2006/main" noGrp="1"/>
          </p:cNvSpPr>
          <p:nvPr/>
        </p:nvSpPr>
        <p:spPr>
          <a:xfrm xmlns:a="http://schemas.openxmlformats.org/drawingml/2006/main">
            <a:off x="723900" y="60769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C70"/>
                </a:solidFill>
                <a:latin typeface="Helvetica Neue"/>
                <a:ea typeface="Helvetica Neue"/>
                <a:cs typeface="Helvetica Neue"/>
              </a:defRPr>
            </a:pPr>
            <a:r>
              <a:rPr sz="1350" b="0">
                <a:solidFill>
                  <a:srgbClr val="666C70"/>
                </a:solidFill>
                <a:latin typeface="Helvetica Neue"/>
                <a:ea typeface="Helvetica Neue"/>
                <a:cs typeface="Helvetica Neue"/>
              </a:rPr>
              <a:t>BF16 MLA cache + FP32 KDA states. Excludes weights, convolution states and temporary buffers.</a:t>
            </a:r>
          </a:p>
        </p:txBody>
      </p:sp>
    </p:spTree>
    <p:extLst>
      <p:ext uri="{BB962C8B-B14F-4D97-AF65-F5344CB8AC3E}">
        <p14:creationId xmlns:p14="http://schemas.microsoft.com/office/powerpoint/2010/main" val="3965382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769A855-7846-435C-9713-C191F211D591}"/>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The nine-problem path</a:t>
            </a:r>
          </a:p>
        </p:txBody>
      </p:sp>
      <p:sp>
        <p:nvSpPr>
          <p:cNvPr id="2" name="">
            <a:extLst xmlns:a="http://schemas.openxmlformats.org/drawingml/2006/main">
              <a:ext uri="{FF2B5EF4-FFF2-40B4-BE49-F238E27FC236}">
                <a16:creationId xmlns:a16="http://schemas.microsoft.com/office/drawing/2014/main" id="{202195F8-76E5-4474-A74D-868D28A25DEC}"/>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8C16894-B904-4EB3-AB66-A163B60C192D}"/>
              </a:ext>
            </a:extLst>
          </p:cNvPr>
          <p:cNvSpPr>
            <a:spLocks xmlns:a="http://schemas.openxmlformats.org/drawingml/2006/main" noGrp="1"/>
          </p:cNvSpPr>
          <p:nvPr/>
        </p:nvSpPr>
        <p:spPr>
          <a:xfrm xmlns:a="http://schemas.openxmlformats.org/drawingml/2006/main">
            <a:off x="723900" y="185737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66C70"/>
                </a:solidFill>
                <a:latin typeface="Helvetica Neue"/>
                <a:ea typeface="Helvetica Neue"/>
                <a:cs typeface="Helvetica Neue"/>
              </a:defRPr>
            </a:pPr>
            <a:r>
              <a:rPr sz="2250" b="0">
                <a:solidFill>
                  <a:srgbClr val="666C70"/>
                </a:solidFill>
                <a:latin typeface="Helvetica Neue"/>
                <a:ea typeface="Helvetica Neue"/>
                <a:cs typeface="Helvetica Neue"/>
              </a:rPr>
              <a:t>Matrix memory</a:t>
            </a:r>
          </a:p>
        </p:txBody>
      </p:sp>
      <p:sp>
        <p:nvSpPr>
          <p:cNvPr id="4" name="">
            <a:extLst xmlns:a="http://schemas.openxmlformats.org/drawingml/2006/main">
              <a:ext uri="{FF2B5EF4-FFF2-40B4-BE49-F238E27FC236}">
                <a16:creationId xmlns:a16="http://schemas.microsoft.com/office/drawing/2014/main" id="{96252EAF-9125-4735-AB42-0334D277D484}"/>
              </a:ext>
            </a:extLst>
          </p:cNvPr>
          <p:cNvSpPr>
            <a:spLocks xmlns:a="http://schemas.openxmlformats.org/drawingml/2006/main" noGrp="1"/>
          </p:cNvSpPr>
          <p:nvPr/>
        </p:nvSpPr>
        <p:spPr>
          <a:xfrm xmlns:a="http://schemas.openxmlformats.org/drawingml/2006/main">
            <a:off x="723900" y="29146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6C70"/>
                </a:solidFill>
                <a:latin typeface="Helvetica Neue"/>
                <a:ea typeface="Helvetica Neue"/>
                <a:cs typeface="Helvetica Neue"/>
              </a:defRPr>
            </a:pPr>
            <a:r>
              <a:rPr sz="2025" b="0">
                <a:solidFill>
                  <a:srgbClr val="666C70"/>
                </a:solidFill>
                <a:latin typeface="Helvetica Neue"/>
                <a:ea typeface="Helvetica Neue"/>
                <a:cs typeface="Helvetica Neue"/>
              </a:rPr>
              <a:t>P1</a:t>
            </a:r>
          </a:p>
        </p:txBody>
      </p:sp>
      <p:sp>
        <p:nvSpPr>
          <p:cNvPr id="5" name="">
            <a:extLst xmlns:a="http://schemas.openxmlformats.org/drawingml/2006/main">
              <a:ext uri="{FF2B5EF4-FFF2-40B4-BE49-F238E27FC236}">
                <a16:creationId xmlns:a16="http://schemas.microsoft.com/office/drawing/2014/main" id="{39537822-2FCC-4D8C-97EB-40B49D13614F}"/>
              </a:ext>
            </a:extLst>
          </p:cNvPr>
          <p:cNvSpPr>
            <a:spLocks xmlns:a="http://schemas.openxmlformats.org/drawingml/2006/main" noGrp="1"/>
          </p:cNvSpPr>
          <p:nvPr/>
        </p:nvSpPr>
        <p:spPr>
          <a:xfrm xmlns:a="http://schemas.openxmlformats.org/drawingml/2006/main">
            <a:off x="1390650" y="293370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PyTorch foundation</a:t>
            </a:r>
          </a:p>
        </p:txBody>
      </p:sp>
      <p:sp>
        <p:nvSpPr>
          <p:cNvPr id="6" name="">
            <a:extLst xmlns:a="http://schemas.openxmlformats.org/drawingml/2006/main">
              <a:ext uri="{FF2B5EF4-FFF2-40B4-BE49-F238E27FC236}">
                <a16:creationId xmlns:a16="http://schemas.microsoft.com/office/drawing/2014/main" id="{DE73776D-49A9-4FC0-9A53-4369430E551C}"/>
              </a:ext>
            </a:extLst>
          </p:cNvPr>
          <p:cNvSpPr>
            <a:spLocks xmlns:a="http://schemas.openxmlformats.org/drawingml/2006/main" noGrp="1"/>
          </p:cNvSpPr>
          <p:nvPr/>
        </p:nvSpPr>
        <p:spPr>
          <a:xfrm xmlns:a="http://schemas.openxmlformats.org/drawingml/2006/main">
            <a:off x="723900" y="38766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6C70"/>
                </a:solidFill>
                <a:latin typeface="Helvetica Neue"/>
                <a:ea typeface="Helvetica Neue"/>
                <a:cs typeface="Helvetica Neue"/>
              </a:defRPr>
            </a:pPr>
            <a:r>
              <a:rPr sz="2025" b="0">
                <a:solidFill>
                  <a:srgbClr val="666C70"/>
                </a:solidFill>
                <a:latin typeface="Helvetica Neue"/>
                <a:ea typeface="Helvetica Neue"/>
                <a:cs typeface="Helvetica Neue"/>
              </a:rPr>
              <a:t>P2</a:t>
            </a:r>
          </a:p>
        </p:txBody>
      </p:sp>
      <p:sp>
        <p:nvSpPr>
          <p:cNvPr id="7" name="">
            <a:extLst xmlns:a="http://schemas.openxmlformats.org/drawingml/2006/main">
              <a:ext uri="{FF2B5EF4-FFF2-40B4-BE49-F238E27FC236}">
                <a16:creationId xmlns:a16="http://schemas.microsoft.com/office/drawing/2014/main" id="{1EFB65C1-DD35-4A00-84F4-6DE4D653989A}"/>
              </a:ext>
            </a:extLst>
          </p:cNvPr>
          <p:cNvSpPr>
            <a:spLocks xmlns:a="http://schemas.openxmlformats.org/drawingml/2006/main" noGrp="1"/>
          </p:cNvSpPr>
          <p:nvPr/>
        </p:nvSpPr>
        <p:spPr>
          <a:xfrm xmlns:a="http://schemas.openxmlformats.org/drawingml/2006/main">
            <a:off x="1390650" y="389572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Recurrent Triton</a:t>
            </a:r>
          </a:p>
        </p:txBody>
      </p:sp>
      <p:sp>
        <p:nvSpPr>
          <p:cNvPr id="8" name="">
            <a:extLst xmlns:a="http://schemas.openxmlformats.org/drawingml/2006/main">
              <a:ext uri="{FF2B5EF4-FFF2-40B4-BE49-F238E27FC236}">
                <a16:creationId xmlns:a16="http://schemas.microsoft.com/office/drawing/2014/main" id="{88F875A8-C31A-4B8E-A74F-FF81DE393BBB}"/>
              </a:ext>
            </a:extLst>
          </p:cNvPr>
          <p:cNvSpPr>
            <a:spLocks xmlns:a="http://schemas.openxmlformats.org/drawingml/2006/main" noGrp="1"/>
          </p:cNvSpPr>
          <p:nvPr/>
        </p:nvSpPr>
        <p:spPr>
          <a:xfrm xmlns:a="http://schemas.openxmlformats.org/drawingml/2006/main">
            <a:off x="723900" y="48387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6C70"/>
                </a:solidFill>
                <a:latin typeface="Helvetica Neue"/>
                <a:ea typeface="Helvetica Neue"/>
                <a:cs typeface="Helvetica Neue"/>
              </a:defRPr>
            </a:pPr>
            <a:r>
              <a:rPr sz="2025" b="0">
                <a:solidFill>
                  <a:srgbClr val="666C70"/>
                </a:solidFill>
                <a:latin typeface="Helvetica Neue"/>
                <a:ea typeface="Helvetica Neue"/>
                <a:cs typeface="Helvetica Neue"/>
              </a:rPr>
              <a:t>P3</a:t>
            </a:r>
          </a:p>
        </p:txBody>
      </p:sp>
      <p:sp>
        <p:nvSpPr>
          <p:cNvPr id="9" name="">
            <a:extLst xmlns:a="http://schemas.openxmlformats.org/drawingml/2006/main">
              <a:ext uri="{FF2B5EF4-FFF2-40B4-BE49-F238E27FC236}">
                <a16:creationId xmlns:a16="http://schemas.microsoft.com/office/drawing/2014/main" id="{85C56D24-D50A-4FA9-B838-72A5ED12F966}"/>
              </a:ext>
            </a:extLst>
          </p:cNvPr>
          <p:cNvSpPr>
            <a:spLocks xmlns:a="http://schemas.openxmlformats.org/drawingml/2006/main" noGrp="1"/>
          </p:cNvSpPr>
          <p:nvPr/>
        </p:nvSpPr>
        <p:spPr>
          <a:xfrm xmlns:a="http://schemas.openxmlformats.org/drawingml/2006/main">
            <a:off x="1390650" y="485775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Chunked linear attention</a:t>
            </a:r>
          </a:p>
        </p:txBody>
      </p:sp>
      <p:sp>
        <p:nvSpPr>
          <p:cNvPr id="10" name="">
            <a:extLst xmlns:a="http://schemas.openxmlformats.org/drawingml/2006/main">
              <a:ext uri="{FF2B5EF4-FFF2-40B4-BE49-F238E27FC236}">
                <a16:creationId xmlns:a16="http://schemas.microsoft.com/office/drawing/2014/main" id="{1A8576F5-A50D-459D-A1C7-7BA36C968B8E}"/>
              </a:ext>
            </a:extLst>
          </p:cNvPr>
          <p:cNvSpPr>
            <a:spLocks xmlns:a="http://schemas.openxmlformats.org/drawingml/2006/main" noGrp="1"/>
          </p:cNvSpPr>
          <p:nvPr/>
        </p:nvSpPr>
        <p:spPr>
          <a:xfrm xmlns:a="http://schemas.openxmlformats.org/drawingml/2006/main">
            <a:off x="4524375" y="185737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63D32"/>
                </a:solidFill>
                <a:latin typeface="Helvetica Neue"/>
                <a:ea typeface="Helvetica Neue"/>
                <a:cs typeface="Helvetica Neue"/>
              </a:defRPr>
            </a:pPr>
            <a:r>
              <a:rPr sz="2250" b="0">
                <a:solidFill>
                  <a:srgbClr val="A63D32"/>
                </a:solidFill>
                <a:latin typeface="Helvetica Neue"/>
                <a:ea typeface="Helvetica Neue"/>
                <a:cs typeface="Helvetica Neue"/>
              </a:rPr>
              <a:t>Forgetting and correction</a:t>
            </a:r>
          </a:p>
        </p:txBody>
      </p:sp>
      <p:sp>
        <p:nvSpPr>
          <p:cNvPr id="11" name="">
            <a:extLst xmlns:a="http://schemas.openxmlformats.org/drawingml/2006/main">
              <a:ext uri="{FF2B5EF4-FFF2-40B4-BE49-F238E27FC236}">
                <a16:creationId xmlns:a16="http://schemas.microsoft.com/office/drawing/2014/main" id="{2F04FC59-DBC3-4726-8379-F938A60E485F}"/>
              </a:ext>
            </a:extLst>
          </p:cNvPr>
          <p:cNvSpPr>
            <a:spLocks xmlns:a="http://schemas.openxmlformats.org/drawingml/2006/main" noGrp="1"/>
          </p:cNvSpPr>
          <p:nvPr/>
        </p:nvSpPr>
        <p:spPr>
          <a:xfrm xmlns:a="http://schemas.openxmlformats.org/drawingml/2006/main">
            <a:off x="4524375" y="29146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63D32"/>
                </a:solidFill>
                <a:latin typeface="Helvetica Neue"/>
                <a:ea typeface="Helvetica Neue"/>
                <a:cs typeface="Helvetica Neue"/>
              </a:defRPr>
            </a:pPr>
            <a:r>
              <a:rPr sz="2025" b="0">
                <a:solidFill>
                  <a:srgbClr val="A63D32"/>
                </a:solidFill>
                <a:latin typeface="Helvetica Neue"/>
                <a:ea typeface="Helvetica Neue"/>
                <a:cs typeface="Helvetica Neue"/>
              </a:rPr>
              <a:t>P4</a:t>
            </a:r>
          </a:p>
        </p:txBody>
      </p:sp>
      <p:sp>
        <p:nvSpPr>
          <p:cNvPr id="12" name="">
            <a:extLst xmlns:a="http://schemas.openxmlformats.org/drawingml/2006/main">
              <a:ext uri="{FF2B5EF4-FFF2-40B4-BE49-F238E27FC236}">
                <a16:creationId xmlns:a16="http://schemas.microsoft.com/office/drawing/2014/main" id="{24E4C05C-4C53-4F48-A51A-EA70E0F485FA}"/>
              </a:ext>
            </a:extLst>
          </p:cNvPr>
          <p:cNvSpPr>
            <a:spLocks xmlns:a="http://schemas.openxmlformats.org/drawingml/2006/main" noGrp="1"/>
          </p:cNvSpPr>
          <p:nvPr/>
        </p:nvSpPr>
        <p:spPr>
          <a:xfrm xmlns:a="http://schemas.openxmlformats.org/drawingml/2006/main">
            <a:off x="5191125" y="293370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Gated linear attention</a:t>
            </a:r>
          </a:p>
        </p:txBody>
      </p:sp>
      <p:sp>
        <p:nvSpPr>
          <p:cNvPr id="13" name="">
            <a:extLst xmlns:a="http://schemas.openxmlformats.org/drawingml/2006/main">
              <a:ext uri="{FF2B5EF4-FFF2-40B4-BE49-F238E27FC236}">
                <a16:creationId xmlns:a16="http://schemas.microsoft.com/office/drawing/2014/main" id="{D6A7C38F-88BF-41C2-B296-7B76B1F65895}"/>
              </a:ext>
            </a:extLst>
          </p:cNvPr>
          <p:cNvSpPr>
            <a:spLocks xmlns:a="http://schemas.openxmlformats.org/drawingml/2006/main" noGrp="1"/>
          </p:cNvSpPr>
          <p:nvPr/>
        </p:nvSpPr>
        <p:spPr>
          <a:xfrm xmlns:a="http://schemas.openxmlformats.org/drawingml/2006/main">
            <a:off x="4524375" y="38766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63D32"/>
                </a:solidFill>
                <a:latin typeface="Helvetica Neue"/>
                <a:ea typeface="Helvetica Neue"/>
                <a:cs typeface="Helvetica Neue"/>
              </a:defRPr>
            </a:pPr>
            <a:r>
              <a:rPr sz="2025" b="0">
                <a:solidFill>
                  <a:srgbClr val="A63D32"/>
                </a:solidFill>
                <a:latin typeface="Helvetica Neue"/>
                <a:ea typeface="Helvetica Neue"/>
                <a:cs typeface="Helvetica Neue"/>
              </a:rPr>
              <a:t>P5</a:t>
            </a:r>
          </a:p>
        </p:txBody>
      </p:sp>
      <p:sp>
        <p:nvSpPr>
          <p:cNvPr id="14" name="">
            <a:extLst xmlns:a="http://schemas.openxmlformats.org/drawingml/2006/main">
              <a:ext uri="{FF2B5EF4-FFF2-40B4-BE49-F238E27FC236}">
                <a16:creationId xmlns:a16="http://schemas.microsoft.com/office/drawing/2014/main" id="{76BA6D5C-9451-4292-B9D5-40813BB84900}"/>
              </a:ext>
            </a:extLst>
          </p:cNvPr>
          <p:cNvSpPr>
            <a:spLocks xmlns:a="http://schemas.openxmlformats.org/drawingml/2006/main" noGrp="1"/>
          </p:cNvSpPr>
          <p:nvPr/>
        </p:nvSpPr>
        <p:spPr>
          <a:xfrm xmlns:a="http://schemas.openxmlformats.org/drawingml/2006/main">
            <a:off x="5191125" y="389572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Recurrent DeltaNet</a:t>
            </a:r>
          </a:p>
        </p:txBody>
      </p:sp>
      <p:sp>
        <p:nvSpPr>
          <p:cNvPr id="15" name="">
            <a:extLst xmlns:a="http://schemas.openxmlformats.org/drawingml/2006/main">
              <a:ext uri="{FF2B5EF4-FFF2-40B4-BE49-F238E27FC236}">
                <a16:creationId xmlns:a16="http://schemas.microsoft.com/office/drawing/2014/main" id="{B7811473-B85E-4200-BCAD-048D6FD0CDE8}"/>
              </a:ext>
            </a:extLst>
          </p:cNvPr>
          <p:cNvSpPr>
            <a:spLocks xmlns:a="http://schemas.openxmlformats.org/drawingml/2006/main" noGrp="1"/>
          </p:cNvSpPr>
          <p:nvPr/>
        </p:nvSpPr>
        <p:spPr>
          <a:xfrm xmlns:a="http://schemas.openxmlformats.org/drawingml/2006/main">
            <a:off x="4524375" y="48387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63D32"/>
                </a:solidFill>
                <a:latin typeface="Helvetica Neue"/>
                <a:ea typeface="Helvetica Neue"/>
                <a:cs typeface="Helvetica Neue"/>
              </a:defRPr>
            </a:pPr>
            <a:r>
              <a:rPr sz="2025" b="0">
                <a:solidFill>
                  <a:srgbClr val="A63D32"/>
                </a:solidFill>
                <a:latin typeface="Helvetica Neue"/>
                <a:ea typeface="Helvetica Neue"/>
                <a:cs typeface="Helvetica Neue"/>
              </a:rPr>
              <a:t>P6</a:t>
            </a:r>
          </a:p>
        </p:txBody>
      </p:sp>
      <p:sp>
        <p:nvSpPr>
          <p:cNvPr id="16" name="">
            <a:extLst xmlns:a="http://schemas.openxmlformats.org/drawingml/2006/main">
              <a:ext uri="{FF2B5EF4-FFF2-40B4-BE49-F238E27FC236}">
                <a16:creationId xmlns:a16="http://schemas.microsoft.com/office/drawing/2014/main" id="{178841CC-8199-40EE-9F8C-52F12231244C}"/>
              </a:ext>
            </a:extLst>
          </p:cNvPr>
          <p:cNvSpPr>
            <a:spLocks xmlns:a="http://schemas.openxmlformats.org/drawingml/2006/main" noGrp="1"/>
          </p:cNvSpPr>
          <p:nvPr/>
        </p:nvSpPr>
        <p:spPr>
          <a:xfrm xmlns:a="http://schemas.openxmlformats.org/drawingml/2006/main">
            <a:off x="5191125" y="485775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Chunked DeltaNet / WY</a:t>
            </a:r>
          </a:p>
        </p:txBody>
      </p:sp>
      <p:sp>
        <p:nvSpPr>
          <p:cNvPr id="17" name="">
            <a:extLst xmlns:a="http://schemas.openxmlformats.org/drawingml/2006/main">
              <a:ext uri="{FF2B5EF4-FFF2-40B4-BE49-F238E27FC236}">
                <a16:creationId xmlns:a16="http://schemas.microsoft.com/office/drawing/2014/main" id="{7B8DD2CD-A049-4E0D-ACD3-401DDADB3022}"/>
              </a:ext>
            </a:extLst>
          </p:cNvPr>
          <p:cNvSpPr>
            <a:spLocks xmlns:a="http://schemas.openxmlformats.org/drawingml/2006/main" noGrp="1"/>
          </p:cNvSpPr>
          <p:nvPr/>
        </p:nvSpPr>
        <p:spPr>
          <a:xfrm xmlns:a="http://schemas.openxmlformats.org/drawingml/2006/main">
            <a:off x="8334375" y="185737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4634B"/>
                </a:solidFill>
                <a:latin typeface="Helvetica Neue"/>
                <a:ea typeface="Helvetica Neue"/>
                <a:cs typeface="Helvetica Neue"/>
              </a:defRPr>
            </a:pPr>
            <a:r>
              <a:rPr sz="2250" b="0">
                <a:solidFill>
                  <a:srgbClr val="24634B"/>
                </a:solidFill>
                <a:latin typeface="Helvetica Neue"/>
                <a:ea typeface="Helvetica Neue"/>
                <a:cs typeface="Helvetica Neue"/>
              </a:rPr>
              <a:t>Kimi Delta Attention</a:t>
            </a:r>
          </a:p>
        </p:txBody>
      </p:sp>
      <p:sp>
        <p:nvSpPr>
          <p:cNvPr id="18" name="">
            <a:extLst xmlns:a="http://schemas.openxmlformats.org/drawingml/2006/main">
              <a:ext uri="{FF2B5EF4-FFF2-40B4-BE49-F238E27FC236}">
                <a16:creationId xmlns:a16="http://schemas.microsoft.com/office/drawing/2014/main" id="{242114F7-063B-4B4A-9F5A-54357E69ECE4}"/>
              </a:ext>
            </a:extLst>
          </p:cNvPr>
          <p:cNvSpPr>
            <a:spLocks xmlns:a="http://schemas.openxmlformats.org/drawingml/2006/main" noGrp="1"/>
          </p:cNvSpPr>
          <p:nvPr/>
        </p:nvSpPr>
        <p:spPr>
          <a:xfrm xmlns:a="http://schemas.openxmlformats.org/drawingml/2006/main">
            <a:off x="8334375" y="29146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634B"/>
                </a:solidFill>
                <a:latin typeface="Helvetica Neue"/>
                <a:ea typeface="Helvetica Neue"/>
                <a:cs typeface="Helvetica Neue"/>
              </a:defRPr>
            </a:pPr>
            <a:r>
              <a:rPr sz="2025" b="0">
                <a:solidFill>
                  <a:srgbClr val="24634B"/>
                </a:solidFill>
                <a:latin typeface="Helvetica Neue"/>
                <a:ea typeface="Helvetica Neue"/>
                <a:cs typeface="Helvetica Neue"/>
              </a:rPr>
              <a:t>P7</a:t>
            </a:r>
          </a:p>
        </p:txBody>
      </p:sp>
      <p:sp>
        <p:nvSpPr>
          <p:cNvPr id="19" name="">
            <a:extLst xmlns:a="http://schemas.openxmlformats.org/drawingml/2006/main">
              <a:ext uri="{FF2B5EF4-FFF2-40B4-BE49-F238E27FC236}">
                <a16:creationId xmlns:a16="http://schemas.microsoft.com/office/drawing/2014/main" id="{15CF97B4-5657-4E98-BAFA-B687957EAD55}"/>
              </a:ext>
            </a:extLst>
          </p:cNvPr>
          <p:cNvSpPr>
            <a:spLocks xmlns:a="http://schemas.openxmlformats.org/drawingml/2006/main" noGrp="1"/>
          </p:cNvSpPr>
          <p:nvPr/>
        </p:nvSpPr>
        <p:spPr>
          <a:xfrm xmlns:a="http://schemas.openxmlformats.org/drawingml/2006/main">
            <a:off x="9001125" y="293370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Gated DeltaNet</a:t>
            </a:r>
          </a:p>
        </p:txBody>
      </p:sp>
      <p:sp>
        <p:nvSpPr>
          <p:cNvPr id="20" name="">
            <a:extLst xmlns:a="http://schemas.openxmlformats.org/drawingml/2006/main">
              <a:ext uri="{FF2B5EF4-FFF2-40B4-BE49-F238E27FC236}">
                <a16:creationId xmlns:a16="http://schemas.microsoft.com/office/drawing/2014/main" id="{BD7186F2-B748-4842-A592-7FCF441CA17B}"/>
              </a:ext>
            </a:extLst>
          </p:cNvPr>
          <p:cNvSpPr>
            <a:spLocks xmlns:a="http://schemas.openxmlformats.org/drawingml/2006/main" noGrp="1"/>
          </p:cNvSpPr>
          <p:nvPr/>
        </p:nvSpPr>
        <p:spPr>
          <a:xfrm xmlns:a="http://schemas.openxmlformats.org/drawingml/2006/main">
            <a:off x="8334375" y="38766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634B"/>
                </a:solidFill>
                <a:latin typeface="Helvetica Neue"/>
                <a:ea typeface="Helvetica Neue"/>
                <a:cs typeface="Helvetica Neue"/>
              </a:defRPr>
            </a:pPr>
            <a:r>
              <a:rPr sz="2025" b="0">
                <a:solidFill>
                  <a:srgbClr val="24634B"/>
                </a:solidFill>
                <a:latin typeface="Helvetica Neue"/>
                <a:ea typeface="Helvetica Neue"/>
                <a:cs typeface="Helvetica Neue"/>
              </a:rPr>
              <a:t>P8</a:t>
            </a:r>
          </a:p>
        </p:txBody>
      </p:sp>
      <p:sp>
        <p:nvSpPr>
          <p:cNvPr id="21" name="">
            <a:extLst xmlns:a="http://schemas.openxmlformats.org/drawingml/2006/main">
              <a:ext uri="{FF2B5EF4-FFF2-40B4-BE49-F238E27FC236}">
                <a16:creationId xmlns:a16="http://schemas.microsoft.com/office/drawing/2014/main" id="{156DEFCF-1F36-426E-953F-440B02020307}"/>
              </a:ext>
            </a:extLst>
          </p:cNvPr>
          <p:cNvSpPr>
            <a:spLocks xmlns:a="http://schemas.openxmlformats.org/drawingml/2006/main" noGrp="1"/>
          </p:cNvSpPr>
          <p:nvPr/>
        </p:nvSpPr>
        <p:spPr>
          <a:xfrm xmlns:a="http://schemas.openxmlformats.org/drawingml/2006/main">
            <a:off x="9001125" y="389572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KDA recurrence + scores</a:t>
            </a:r>
          </a:p>
        </p:txBody>
      </p:sp>
      <p:sp>
        <p:nvSpPr>
          <p:cNvPr id="22" name="">
            <a:extLst xmlns:a="http://schemas.openxmlformats.org/drawingml/2006/main">
              <a:ext uri="{FF2B5EF4-FFF2-40B4-BE49-F238E27FC236}">
                <a16:creationId xmlns:a16="http://schemas.microsoft.com/office/drawing/2014/main" id="{9BF408A5-4B2B-4880-8F7C-B210B6186DC6}"/>
              </a:ext>
            </a:extLst>
          </p:cNvPr>
          <p:cNvSpPr>
            <a:spLocks xmlns:a="http://schemas.openxmlformats.org/drawingml/2006/main" noGrp="1"/>
          </p:cNvSpPr>
          <p:nvPr/>
        </p:nvSpPr>
        <p:spPr>
          <a:xfrm xmlns:a="http://schemas.openxmlformats.org/drawingml/2006/main">
            <a:off x="8334375" y="48387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634B"/>
                </a:solidFill>
                <a:latin typeface="Helvetica Neue"/>
                <a:ea typeface="Helvetica Neue"/>
                <a:cs typeface="Helvetica Neue"/>
              </a:defRPr>
            </a:pPr>
            <a:r>
              <a:rPr sz="2025" b="0">
                <a:solidFill>
                  <a:srgbClr val="24634B"/>
                </a:solidFill>
                <a:latin typeface="Helvetica Neue"/>
                <a:ea typeface="Helvetica Neue"/>
                <a:cs typeface="Helvetica Neue"/>
              </a:rPr>
              <a:t>P9</a:t>
            </a:r>
          </a:p>
        </p:txBody>
      </p:sp>
      <p:sp>
        <p:nvSpPr>
          <p:cNvPr id="23" name="">
            <a:extLst xmlns:a="http://schemas.openxmlformats.org/drawingml/2006/main">
              <a:ext uri="{FF2B5EF4-FFF2-40B4-BE49-F238E27FC236}">
                <a16:creationId xmlns:a16="http://schemas.microsoft.com/office/drawing/2014/main" id="{C36AAE8E-7302-4750-A39C-70071C47EDD4}"/>
              </a:ext>
            </a:extLst>
          </p:cNvPr>
          <p:cNvSpPr>
            <a:spLocks xmlns:a="http://schemas.openxmlformats.org/drawingml/2006/main" noGrp="1"/>
          </p:cNvSpPr>
          <p:nvPr/>
        </p:nvSpPr>
        <p:spPr>
          <a:xfrm xmlns:a="http://schemas.openxmlformats.org/drawingml/2006/main">
            <a:off x="9001125" y="485775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124"/>
                </a:solidFill>
                <a:latin typeface="Helvetica Neue"/>
                <a:ea typeface="Helvetica Neue"/>
                <a:cs typeface="Helvetica Neue"/>
              </a:defRPr>
            </a:pPr>
            <a:r>
              <a:rPr sz="1875" b="0">
                <a:solidFill>
                  <a:srgbClr val="202124"/>
                </a:solidFill>
                <a:latin typeface="Helvetica Neue"/>
                <a:ea typeface="Helvetica Neue"/>
                <a:cs typeface="Helvetica Neue"/>
              </a:rPr>
              <a:t>Complete chunked KDA</a:t>
            </a:r>
          </a:p>
        </p:txBody>
      </p:sp>
      <p:sp>
        <p:nvSpPr>
          <p:cNvPr id="24" name="">
            <a:extLst xmlns:a="http://schemas.openxmlformats.org/drawingml/2006/main">
              <a:ext uri="{FF2B5EF4-FFF2-40B4-BE49-F238E27FC236}">
                <a16:creationId xmlns:a16="http://schemas.microsoft.com/office/drawing/2014/main" id="{95D998C8-703C-4655-B2C7-F3CF8192A16E}"/>
              </a:ext>
            </a:extLst>
          </p:cNvPr>
          <p:cNvSpPr>
            <a:spLocks xmlns:a="http://schemas.openxmlformats.org/drawingml/2006/main" noGrp="1"/>
          </p:cNvSpPr>
          <p:nvPr/>
        </p:nvSpPr>
        <p:spPr>
          <a:xfrm xmlns:a="http://schemas.openxmlformats.org/drawingml/2006/main">
            <a:off x="723900" y="59245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66C70"/>
                </a:solidFill>
                <a:latin typeface="Helvetica Neue"/>
                <a:ea typeface="Helvetica Neue"/>
                <a:cs typeface="Helvetica Neue"/>
              </a:defRPr>
            </a:pPr>
            <a:r>
              <a:rPr sz="1875" b="0">
                <a:solidFill>
                  <a:srgbClr val="666C70"/>
                </a:solidFill>
                <a:latin typeface="Helvetica Neue"/>
                <a:ea typeface="Helvetica Neue"/>
                <a:cs typeface="Helvetica Neue"/>
              </a:rPr>
              <a:t>Each stage gives the next stage a recurrence, a kernel pattern or a reusable primitive.</a:t>
            </a:r>
          </a:p>
        </p:txBody>
      </p:sp>
    </p:spTree>
    <p:extLst>
      <p:ext uri="{BB962C8B-B14F-4D97-AF65-F5344CB8AC3E}">
        <p14:creationId xmlns:p14="http://schemas.microsoft.com/office/powerpoint/2010/main" val="17318521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FF6BA6-BAF3-4D9F-B763-E90D66DB2AB1}"/>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P1: remember by updating a fixed state</a:t>
            </a:r>
          </a:p>
        </p:txBody>
      </p:sp>
      <p:sp>
        <p:nvSpPr>
          <p:cNvPr id="2" name="">
            <a:extLst xmlns:a="http://schemas.openxmlformats.org/drawingml/2006/main">
              <a:ext uri="{FF2B5EF4-FFF2-40B4-BE49-F238E27FC236}">
                <a16:creationId xmlns:a16="http://schemas.microsoft.com/office/drawing/2014/main" id="{CA30AA1D-4D90-44A5-9A01-B3B25CE6AA4B}"/>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2B55ABF-9B9D-4CCA-8497-B0367B43D5DB}"/>
              </a:ext>
            </a:extLst>
          </p:cNvPr>
          <p:cNvSpPr>
            <a:spLocks xmlns:a="http://schemas.openxmlformats.org/drawingml/2006/main" noGrp="1"/>
          </p:cNvSpPr>
          <p:nvPr/>
        </p:nvSpPr>
        <p:spPr>
          <a:xfrm xmlns:a="http://schemas.openxmlformats.org/drawingml/2006/main">
            <a:off x="723900" y="1666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24634B"/>
                </a:solidFill>
                <a:latin typeface="Helvetica Neue"/>
                <a:ea typeface="Helvetica Neue"/>
                <a:cs typeface="Helvetica Neue"/>
              </a:defRPr>
            </a:pPr>
            <a:r>
              <a:rPr sz="2925" b="0">
                <a:solidFill>
                  <a:srgbClr val="24634B"/>
                </a:solidFill>
                <a:latin typeface="Helvetica Neue"/>
                <a:ea typeface="Helvetica Neue"/>
                <a:cs typeface="Helvetica Neue"/>
              </a:rPr>
              <a:t>A growing history. One matrix to carry.</a:t>
            </a:r>
          </a:p>
        </p:txBody>
      </p:sp>
      <p:sp>
        <p:nvSpPr>
          <p:cNvPr id="4" name="">
            <a:extLst xmlns:a="http://schemas.openxmlformats.org/drawingml/2006/main">
              <a:ext uri="{FF2B5EF4-FFF2-40B4-BE49-F238E27FC236}">
                <a16:creationId xmlns:a16="http://schemas.microsoft.com/office/drawing/2014/main" id="{2577D05F-ADF3-4653-93ED-8434F71E2E3C}"/>
              </a:ext>
            </a:extLst>
          </p:cNvPr>
          <p:cNvSpPr>
            <a:spLocks xmlns:a="http://schemas.openxmlformats.org/drawingml/2006/main" noGrp="1"/>
          </p:cNvSpPr>
          <p:nvPr/>
        </p:nvSpPr>
        <p:spPr>
          <a:xfrm xmlns:a="http://schemas.openxmlformats.org/drawingml/2006/main">
            <a:off x="723900" y="27051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2124"/>
                </a:solidFill>
                <a:latin typeface="Times New Roman"/>
                <a:ea typeface="Times New Roman"/>
                <a:cs typeface="Times New Roman"/>
              </a:defRPr>
            </a:pPr>
            <a:r>
              <a:rPr sz="3600" b="0">
                <a:solidFill>
                  <a:srgbClr val="202124"/>
                </a:solidFill>
                <a:latin typeface="Times New Roman"/>
                <a:ea typeface="Times New Roman"/>
                <a:cs typeface="Times New Roman"/>
              </a:rPr>
              <a:t>Sₜ = Sₜ₋₁ + kₜ vₜᵀ</a:t>
            </a:r>
          </a:p>
        </p:txBody>
      </p:sp>
      <p:sp>
        <p:nvSpPr>
          <p:cNvPr id="5" name="">
            <a:extLst xmlns:a="http://schemas.openxmlformats.org/drawingml/2006/main">
              <a:ext uri="{FF2B5EF4-FFF2-40B4-BE49-F238E27FC236}">
                <a16:creationId xmlns:a16="http://schemas.microsoft.com/office/drawing/2014/main" id="{1C0F129E-99BE-4F18-BD1A-E84584687978}"/>
              </a:ext>
            </a:extLst>
          </p:cNvPr>
          <p:cNvSpPr>
            <a:spLocks xmlns:a="http://schemas.openxmlformats.org/drawingml/2006/main" noGrp="1"/>
          </p:cNvSpPr>
          <p:nvPr/>
        </p:nvSpPr>
        <p:spPr>
          <a:xfrm xmlns:a="http://schemas.openxmlformats.org/drawingml/2006/main">
            <a:off x="723900" y="34766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2124"/>
                </a:solidFill>
                <a:latin typeface="Times New Roman"/>
                <a:ea typeface="Times New Roman"/>
                <a:cs typeface="Times New Roman"/>
              </a:defRPr>
            </a:pPr>
            <a:r>
              <a:rPr sz="3600" b="0">
                <a:solidFill>
                  <a:srgbClr val="202124"/>
                </a:solidFill>
                <a:latin typeface="Times New Roman"/>
                <a:ea typeface="Times New Roman"/>
                <a:cs typeface="Times New Roman"/>
              </a:rPr>
              <a:t>oₜ = Sₜᵀ qₜ</a:t>
            </a:r>
          </a:p>
        </p:txBody>
      </p:sp>
      <p:sp>
        <p:nvSpPr>
          <p:cNvPr id="6" name="">
            <a:extLst xmlns:a="http://schemas.openxmlformats.org/drawingml/2006/main">
              <a:ext uri="{FF2B5EF4-FFF2-40B4-BE49-F238E27FC236}">
                <a16:creationId xmlns:a16="http://schemas.microsoft.com/office/drawing/2014/main" id="{D77B5A0A-28A3-4F77-A45A-BF51331852A7}"/>
              </a:ext>
            </a:extLst>
          </p:cNvPr>
          <p:cNvSpPr>
            <a:spLocks xmlns:a="http://schemas.openxmlformats.org/drawingml/2006/main" noGrp="1"/>
          </p:cNvSpPr>
          <p:nvPr/>
        </p:nvSpPr>
        <p:spPr>
          <a:xfrm xmlns:a="http://schemas.openxmlformats.org/drawingml/2006/main">
            <a:off x="723900" y="4667250"/>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124"/>
                </a:solidFill>
                <a:latin typeface="Helvetica Neue"/>
                <a:ea typeface="Helvetica Neue"/>
                <a:cs typeface="Helvetica Neue"/>
              </a:defRPr>
            </a:pPr>
            <a:r>
              <a:rPr sz="2400" b="0">
                <a:solidFill>
                  <a:srgbClr val="202124"/>
                </a:solidFill>
                <a:latin typeface="Helvetica Neue"/>
                <a:ea typeface="Helvetica Neue"/>
                <a:cs typeface="Helvetica Neue"/>
              </a:rPr>
              <a:t>Every token changes the contents.</a:t>
            </a:r>
          </a:p>
          <a:p xmlns:a="http://schemas.openxmlformats.org/drawingml/2006/main">
            <a:pPr>
              <a:defRPr sz="2400" b="0">
                <a:solidFill>
                  <a:srgbClr val="202124"/>
                </a:solidFill>
                <a:latin typeface="Helvetica Neue"/>
                <a:ea typeface="Helvetica Neue"/>
                <a:cs typeface="Helvetica Neue"/>
              </a:defRPr>
            </a:pPr>
            <a:r>
              <a:rPr sz="2400" b="0">
                <a:solidFill>
                  <a:srgbClr val="202124"/>
                </a:solidFill>
                <a:latin typeface="Helvetica Neue"/>
                <a:ea typeface="Helvetica Neue"/>
                <a:cs typeface="Helvetica Neue"/>
              </a:rPr>
              <a:t>The shape stays Dₖ × Dᵥ.</a:t>
            </a:r>
          </a:p>
        </p:txBody>
      </p:sp>
      <p:sp>
        <p:nvSpPr>
          <p:cNvPr id="7" name="">
            <a:extLst xmlns:a="http://schemas.openxmlformats.org/drawingml/2006/main">
              <a:ext uri="{FF2B5EF4-FFF2-40B4-BE49-F238E27FC236}">
                <a16:creationId xmlns:a16="http://schemas.microsoft.com/office/drawing/2014/main" id="{83645520-D7B0-49B7-B929-39DCA062F6F3}"/>
              </a:ext>
            </a:extLst>
          </p:cNvPr>
          <p:cNvSpPr>
            <a:spLocks xmlns:a="http://schemas.openxmlformats.org/drawingml/2006/main" noGrp="1"/>
          </p:cNvSpPr>
          <p:nvPr/>
        </p:nvSpPr>
        <p:spPr>
          <a:xfrm xmlns:a="http://schemas.openxmlformats.org/drawingml/2006/main">
            <a:off x="8096250" y="466725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6C70"/>
                </a:solidFill>
                <a:latin typeface="Helvetica Neue"/>
                <a:ea typeface="Helvetica Neue"/>
                <a:cs typeface="Helvetica Neue"/>
              </a:defRPr>
            </a:pPr>
            <a:r>
              <a:rPr sz="2025" b="0">
                <a:solidFill>
                  <a:srgbClr val="666C70"/>
                </a:solidFill>
                <a:latin typeface="Helvetica Neue"/>
                <a:ea typeface="Helvetica Neue"/>
                <a:cs typeface="Helvetica Neue"/>
              </a:rPr>
              <a:t>Your first task</a:t>
            </a:r>
          </a:p>
          <a:p xmlns:a="http://schemas.openxmlformats.org/drawingml/2006/main">
            <a:pPr>
              <a:defRPr sz="2025" b="0">
                <a:solidFill>
                  <a:srgbClr val="666C70"/>
                </a:solidFill>
                <a:latin typeface="Helvetica Neue"/>
                <a:ea typeface="Helvetica Neue"/>
                <a:cs typeface="Helvetica Neue"/>
              </a:defRPr>
            </a:pPr>
            <a:r>
              <a:rPr sz="2025" b="0">
                <a:solidFill>
                  <a:srgbClr val="666C70"/>
                </a:solidFill>
                <a:latin typeface="Helvetica Neue"/>
                <a:ea typeface="Helvetica Neue"/>
                <a:cs typeface="Helvetica Neue"/>
              </a:rPr>
              <a:t>Make the recurrence and</a:t>
            </a:r>
          </a:p>
          <a:p xmlns:a="http://schemas.openxmlformats.org/drawingml/2006/main">
            <a:pPr>
              <a:defRPr sz="2025" b="0">
                <a:solidFill>
                  <a:srgbClr val="666C70"/>
                </a:solidFill>
                <a:latin typeface="Helvetica Neue"/>
                <a:ea typeface="Helvetica Neue"/>
                <a:cs typeface="Helvetica Neue"/>
              </a:defRPr>
            </a:pPr>
            <a:r>
              <a:rPr sz="2025" b="0">
                <a:solidFill>
                  <a:srgbClr val="666C70"/>
                </a:solidFill>
                <a:latin typeface="Helvetica Neue"/>
                <a:ea typeface="Helvetica Neue"/>
                <a:cs typeface="Helvetica Neue"/>
              </a:rPr>
              <a:t>chunk form agree in PyTorch.</a:t>
            </a:r>
          </a:p>
        </p:txBody>
      </p:sp>
    </p:spTree>
    <p:extLst>
      <p:ext uri="{BB962C8B-B14F-4D97-AF65-F5344CB8AC3E}">
        <p14:creationId xmlns:p14="http://schemas.microsoft.com/office/powerpoint/2010/main" val="14566917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5B8874-B29D-44B1-AB60-B41A740A25B3}"/>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P2: make one memory update a GPU kernel</a:t>
            </a:r>
          </a:p>
        </p:txBody>
      </p:sp>
      <p:sp>
        <p:nvSpPr>
          <p:cNvPr id="2" name="">
            <a:extLst xmlns:a="http://schemas.openxmlformats.org/drawingml/2006/main">
              <a:ext uri="{FF2B5EF4-FFF2-40B4-BE49-F238E27FC236}">
                <a16:creationId xmlns:a16="http://schemas.microsoft.com/office/drawing/2014/main" id="{55171558-A976-4A82-A17A-EDE014741F20}"/>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14BC646A-F9E8-43F0-B940-6E45757E8235}"/>
              </a:ext>
            </a:extLst>
          </p:cNvPr>
          <p:cNvSpPr>
            <a:spLocks xmlns:a="http://schemas.openxmlformats.org/drawingml/2006/main" noGrp="1"/>
          </p:cNvSpPr>
          <p:nvPr/>
        </p:nvSpPr>
        <p:spPr>
          <a:xfrm xmlns:a="http://schemas.openxmlformats.org/drawingml/2006/main">
            <a:off x="723900" y="17811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666C70"/>
                </a:solidFill>
                <a:latin typeface="Helvetica Neue"/>
                <a:ea typeface="Helvetica Neue"/>
                <a:cs typeface="Helvetica Neue"/>
              </a:defRPr>
            </a:pPr>
            <a:r>
              <a:rPr sz="3000" b="0">
                <a:solidFill>
                  <a:srgbClr val="666C70"/>
                </a:solidFill>
                <a:latin typeface="Helvetica Neue"/>
                <a:ea typeface="Helvetica Neue"/>
                <a:cs typeface="Helvetica Neue"/>
              </a:rPr>
              <a:t>Read the old memory.</a:t>
            </a:r>
          </a:p>
        </p:txBody>
      </p:sp>
      <p:sp>
        <p:nvSpPr>
          <p:cNvPr id="4" name="">
            <a:extLst xmlns:a="http://schemas.openxmlformats.org/drawingml/2006/main">
              <a:ext uri="{FF2B5EF4-FFF2-40B4-BE49-F238E27FC236}">
                <a16:creationId xmlns:a16="http://schemas.microsoft.com/office/drawing/2014/main" id="{CAA191FE-063B-45BD-892B-C4FC9F542BA9}"/>
              </a:ext>
            </a:extLst>
          </p:cNvPr>
          <p:cNvSpPr>
            <a:spLocks xmlns:a="http://schemas.openxmlformats.org/drawingml/2006/main" noGrp="1"/>
          </p:cNvSpPr>
          <p:nvPr/>
        </p:nvSpPr>
        <p:spPr>
          <a:xfrm xmlns:a="http://schemas.openxmlformats.org/drawingml/2006/main">
            <a:off x="723900" y="2762250"/>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B87919"/>
                </a:solidFill>
                <a:latin typeface="Helvetica Neue"/>
                <a:ea typeface="Helvetica Neue"/>
                <a:cs typeface="Helvetica Neue"/>
              </a:defRPr>
            </a:pPr>
            <a:r>
              <a:rPr sz="3000" b="0">
                <a:solidFill>
                  <a:srgbClr val="B87919"/>
                </a:solidFill>
                <a:latin typeface="Helvetica Neue"/>
                <a:ea typeface="Helvetica Neue"/>
                <a:cs typeface="Helvetica Neue"/>
              </a:rPr>
              <a:t>Write the current association.</a:t>
            </a:r>
          </a:p>
        </p:txBody>
      </p:sp>
      <p:sp>
        <p:nvSpPr>
          <p:cNvPr id="5" name="">
            <a:extLst xmlns:a="http://schemas.openxmlformats.org/drawingml/2006/main">
              <a:ext uri="{FF2B5EF4-FFF2-40B4-BE49-F238E27FC236}">
                <a16:creationId xmlns:a16="http://schemas.microsoft.com/office/drawing/2014/main" id="{77899AA9-B3A3-4E83-98BE-AC0D0E571913}"/>
              </a:ext>
            </a:extLst>
          </p:cNvPr>
          <p:cNvSpPr>
            <a:spLocks xmlns:a="http://schemas.openxmlformats.org/drawingml/2006/main" noGrp="1"/>
          </p:cNvSpPr>
          <p:nvPr/>
        </p:nvSpPr>
        <p:spPr>
          <a:xfrm xmlns:a="http://schemas.openxmlformats.org/drawingml/2006/main">
            <a:off x="723900" y="374332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4634B"/>
                </a:solidFill>
                <a:latin typeface="Helvetica Neue"/>
                <a:ea typeface="Helvetica Neue"/>
                <a:cs typeface="Helvetica Neue"/>
              </a:defRPr>
            </a:pPr>
            <a:r>
              <a:rPr sz="3000" b="0">
                <a:solidFill>
                  <a:srgbClr val="24634B"/>
                </a:solidFill>
                <a:latin typeface="Helvetica Neue"/>
                <a:ea typeface="Helvetica Neue"/>
                <a:cs typeface="Helvetica Neue"/>
              </a:rPr>
              <a:t>Answer from the updated memory.</a:t>
            </a:r>
          </a:p>
        </p:txBody>
      </p:sp>
      <p:sp>
        <p:nvSpPr>
          <p:cNvPr id="6" name="">
            <a:extLst xmlns:a="http://schemas.openxmlformats.org/drawingml/2006/main">
              <a:ext uri="{FF2B5EF4-FFF2-40B4-BE49-F238E27FC236}">
                <a16:creationId xmlns:a16="http://schemas.microsoft.com/office/drawing/2014/main" id="{7494A80C-FDB6-4468-8B44-4AA6D0F4D44A}"/>
              </a:ext>
            </a:extLst>
          </p:cNvPr>
          <p:cNvSpPr>
            <a:spLocks xmlns:a="http://schemas.openxmlformats.org/drawingml/2006/main" noGrp="1"/>
          </p:cNvSpPr>
          <p:nvPr/>
        </p:nvSpPr>
        <p:spPr>
          <a:xfrm xmlns:a="http://schemas.openxmlformats.org/drawingml/2006/main">
            <a:off x="723900" y="50482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124"/>
                </a:solidFill>
                <a:latin typeface="Helvetica Neue"/>
                <a:ea typeface="Helvetica Neue"/>
                <a:cs typeface="Helvetica Neue"/>
              </a:defRPr>
            </a:pPr>
            <a:r>
              <a:rPr sz="2250" b="0">
                <a:solidFill>
                  <a:srgbClr val="202124"/>
                </a:solidFill>
                <a:latin typeface="Helvetica Neue"/>
                <a:ea typeface="Helvetica Neue"/>
                <a:cs typeface="Helvetica Neue"/>
              </a:rPr>
              <a:t>Each Triton program owns a tile of value columns.</a:t>
            </a:r>
          </a:p>
          <a:p xmlns:a="http://schemas.openxmlformats.org/drawingml/2006/main">
            <a:pPr>
              <a:defRPr sz="2250" b="0">
                <a:solidFill>
                  <a:srgbClr val="202124"/>
                </a:solidFill>
                <a:latin typeface="Helvetica Neue"/>
                <a:ea typeface="Helvetica Neue"/>
                <a:cs typeface="Helvetica Neue"/>
              </a:defRPr>
            </a:pPr>
            <a:r>
              <a:rPr sz="2250" b="0">
                <a:solidFill>
                  <a:srgbClr val="202124"/>
                </a:solidFill>
                <a:latin typeface="Helvetica Neue"/>
                <a:ea typeface="Helvetica Neue"/>
                <a:cs typeface="Helvetica Neue"/>
              </a:rPr>
              <a:t>It carries that tile through the token loop.</a:t>
            </a:r>
          </a:p>
        </p:txBody>
      </p:sp>
    </p:spTree>
    <p:extLst>
      <p:ext uri="{BB962C8B-B14F-4D97-AF65-F5344CB8AC3E}">
        <p14:creationId xmlns:p14="http://schemas.microsoft.com/office/powerpoint/2010/main" val="14024759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87EB4B-1FC9-438E-BF48-0E8236DB1DFC}"/>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P3: process a prompt in chunks</a:t>
            </a:r>
          </a:p>
        </p:txBody>
      </p:sp>
      <p:sp>
        <p:nvSpPr>
          <p:cNvPr id="2" name="">
            <a:extLst xmlns:a="http://schemas.openxmlformats.org/drawingml/2006/main">
              <a:ext uri="{FF2B5EF4-FFF2-40B4-BE49-F238E27FC236}">
                <a16:creationId xmlns:a16="http://schemas.microsoft.com/office/drawing/2014/main" id="{581756CD-C72E-48A2-8F4B-650AEEE88738}"/>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7E24BFC-2F4C-4225-AD25-3104BF714578}"/>
              </a:ext>
            </a:extLst>
          </p:cNvPr>
          <p:cNvSpPr>
            <a:spLocks xmlns:a="http://schemas.openxmlformats.org/drawingml/2006/main" noGrp="1"/>
          </p:cNvSpPr>
          <p:nvPr/>
        </p:nvSpPr>
        <p:spPr>
          <a:xfrm xmlns:a="http://schemas.openxmlformats.org/drawingml/2006/main">
            <a:off x="723900" y="17145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66C70"/>
                </a:solidFill>
                <a:latin typeface="Helvetica Neue"/>
                <a:ea typeface="Helvetica Neue"/>
                <a:cs typeface="Helvetica Neue"/>
              </a:defRPr>
            </a:pPr>
            <a:r>
              <a:rPr sz="2175" b="0">
                <a:solidFill>
                  <a:srgbClr val="666C70"/>
                </a:solidFill>
                <a:latin typeface="Helvetica Neue"/>
                <a:ea typeface="Helvetica Neue"/>
                <a:cs typeface="Helvetica Neue"/>
              </a:rPr>
              <a:t>During decoding</a:t>
            </a:r>
          </a:p>
        </p:txBody>
      </p:sp>
      <p:sp>
        <p:nvSpPr>
          <p:cNvPr id="4" name="">
            <a:extLst xmlns:a="http://schemas.openxmlformats.org/drawingml/2006/main">
              <a:ext uri="{FF2B5EF4-FFF2-40B4-BE49-F238E27FC236}">
                <a16:creationId xmlns:a16="http://schemas.microsoft.com/office/drawing/2014/main" id="{12DAC9C0-E11B-4776-9599-D17F40A9AE9E}"/>
              </a:ext>
            </a:extLst>
          </p:cNvPr>
          <p:cNvSpPr>
            <a:spLocks xmlns:a="http://schemas.openxmlformats.org/drawingml/2006/main" noGrp="1"/>
          </p:cNvSpPr>
          <p:nvPr/>
        </p:nvSpPr>
        <p:spPr>
          <a:xfrm xmlns:a="http://schemas.openxmlformats.org/drawingml/2006/main">
            <a:off x="723900" y="238125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One new token.</a:t>
            </a:r>
          </a:p>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One state update.</a:t>
            </a:r>
          </a:p>
        </p:txBody>
      </p:sp>
      <p:sp>
        <p:nvSpPr>
          <p:cNvPr id="5" name="">
            <a:extLst xmlns:a="http://schemas.openxmlformats.org/drawingml/2006/main">
              <a:ext uri="{FF2B5EF4-FFF2-40B4-BE49-F238E27FC236}">
                <a16:creationId xmlns:a16="http://schemas.microsoft.com/office/drawing/2014/main" id="{554B248F-3A0E-460E-896B-3740D61AE944}"/>
              </a:ext>
            </a:extLst>
          </p:cNvPr>
          <p:cNvSpPr>
            <a:spLocks xmlns:a="http://schemas.openxmlformats.org/drawingml/2006/main" noGrp="1"/>
          </p:cNvSpPr>
          <p:nvPr/>
        </p:nvSpPr>
        <p:spPr>
          <a:xfrm xmlns:a="http://schemas.openxmlformats.org/drawingml/2006/main">
            <a:off x="6667500" y="17145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4634B"/>
                </a:solidFill>
                <a:latin typeface="Helvetica Neue"/>
                <a:ea typeface="Helvetica Neue"/>
                <a:cs typeface="Helvetica Neue"/>
              </a:defRPr>
            </a:pPr>
            <a:r>
              <a:rPr sz="2175" b="0">
                <a:solidFill>
                  <a:srgbClr val="24634B"/>
                </a:solidFill>
                <a:latin typeface="Helvetica Neue"/>
                <a:ea typeface="Helvetica Neue"/>
                <a:cs typeface="Helvetica Neue"/>
              </a:rPr>
              <a:t>During prompt processing</a:t>
            </a:r>
          </a:p>
        </p:txBody>
      </p:sp>
      <p:sp>
        <p:nvSpPr>
          <p:cNvPr id="6" name="">
            <a:extLst xmlns:a="http://schemas.openxmlformats.org/drawingml/2006/main">
              <a:ext uri="{FF2B5EF4-FFF2-40B4-BE49-F238E27FC236}">
                <a16:creationId xmlns:a16="http://schemas.microsoft.com/office/drawing/2014/main" id="{4D8BA2A7-60EB-4842-80C1-FFF00E463F6C}"/>
              </a:ext>
            </a:extLst>
          </p:cNvPr>
          <p:cNvSpPr>
            <a:spLocks xmlns:a="http://schemas.openxmlformats.org/drawingml/2006/main" noGrp="1"/>
          </p:cNvSpPr>
          <p:nvPr/>
        </p:nvSpPr>
        <p:spPr>
          <a:xfrm xmlns:a="http://schemas.openxmlformats.org/drawingml/2006/main">
            <a:off x="6667500" y="238125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Many tokens.</a:t>
            </a:r>
          </a:p>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Chunked matrix products.</a:t>
            </a:r>
          </a:p>
        </p:txBody>
      </p:sp>
      <p:sp>
        <p:nvSpPr>
          <p:cNvPr id="7" name="">
            <a:extLst xmlns:a="http://schemas.openxmlformats.org/drawingml/2006/main">
              <a:ext uri="{FF2B5EF4-FFF2-40B4-BE49-F238E27FC236}">
                <a16:creationId xmlns:a16="http://schemas.microsoft.com/office/drawing/2014/main" id="{1A2490F6-CBB8-4B6A-8C9D-078C1429A16A}"/>
              </a:ext>
            </a:extLst>
          </p:cNvPr>
          <p:cNvSpPr>
            <a:spLocks xmlns:a="http://schemas.openxmlformats.org/drawingml/2006/main" noGrp="1"/>
          </p:cNvSpPr>
          <p:nvPr/>
        </p:nvSpPr>
        <p:spPr>
          <a:xfrm xmlns:a="http://schemas.openxmlformats.org/drawingml/2006/main">
            <a:off x="723900" y="42862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6C70"/>
                </a:solidFill>
                <a:latin typeface="Helvetica Neue"/>
                <a:ea typeface="Helvetica Neue"/>
                <a:cs typeface="Helvetica Neue"/>
              </a:defRPr>
            </a:pPr>
            <a:r>
              <a:rPr sz="2025" b="0">
                <a:solidFill>
                  <a:srgbClr val="666C70"/>
                </a:solidFill>
                <a:latin typeface="Helvetica Neue"/>
                <a:ea typeface="Helvetica Neue"/>
                <a:cs typeface="Helvetica Neue"/>
              </a:rPr>
              <a:t>Each output combines</a:t>
            </a:r>
          </a:p>
        </p:txBody>
      </p:sp>
      <p:sp>
        <p:nvSpPr>
          <p:cNvPr id="8" name="">
            <a:extLst xmlns:a="http://schemas.openxmlformats.org/drawingml/2006/main">
              <a:ext uri="{FF2B5EF4-FFF2-40B4-BE49-F238E27FC236}">
                <a16:creationId xmlns:a16="http://schemas.microsoft.com/office/drawing/2014/main" id="{A76FEE2C-3B0D-41C9-82E6-2B1969823B14}"/>
              </a:ext>
            </a:extLst>
          </p:cNvPr>
          <p:cNvSpPr>
            <a:spLocks xmlns:a="http://schemas.openxmlformats.org/drawingml/2006/main" noGrp="1"/>
          </p:cNvSpPr>
          <p:nvPr/>
        </p:nvSpPr>
        <p:spPr>
          <a:xfrm xmlns:a="http://schemas.openxmlformats.org/drawingml/2006/main">
            <a:off x="723900" y="48672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2124"/>
                </a:solidFill>
                <a:latin typeface="Helvetica Neue"/>
                <a:ea typeface="Helvetica Neue"/>
                <a:cs typeface="Helvetica Neue"/>
              </a:defRPr>
            </a:pPr>
            <a:r>
              <a:rPr sz="2550" b="0">
                <a:solidFill>
                  <a:srgbClr val="202124"/>
                </a:solidFill>
                <a:latin typeface="Helvetica Neue"/>
                <a:ea typeface="Helvetica Neue"/>
                <a:cs typeface="Helvetica Neue"/>
              </a:rPr>
              <a:t>earlier history in the entry state</a:t>
            </a:r>
          </a:p>
          <a:p xmlns:a="http://schemas.openxmlformats.org/drawingml/2006/main">
            <a:pPr>
              <a:defRPr sz="2550" b="0">
                <a:solidFill>
                  <a:srgbClr val="202124"/>
                </a:solidFill>
                <a:latin typeface="Helvetica Neue"/>
                <a:ea typeface="Helvetica Neue"/>
                <a:cs typeface="Helvetica Neue"/>
              </a:defRPr>
            </a:pPr>
            <a:r>
              <a:rPr sz="2550" b="0">
                <a:solidFill>
                  <a:srgbClr val="202124"/>
                </a:solidFill>
                <a:latin typeface="Helvetica Neue"/>
                <a:ea typeface="Helvetica Neue"/>
                <a:cs typeface="Helvetica Neue"/>
              </a:rPr>
              <a:t>+ visible writes inside the current chunk</a:t>
            </a:r>
          </a:p>
        </p:txBody>
      </p:sp>
    </p:spTree>
    <p:extLst>
      <p:ext uri="{BB962C8B-B14F-4D97-AF65-F5344CB8AC3E}">
        <p14:creationId xmlns:p14="http://schemas.microsoft.com/office/powerpoint/2010/main" val="1887040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E2BF96-F870-432A-900C-D3FD89D0B183}"/>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P4: make room for new information</a:t>
            </a:r>
          </a:p>
        </p:txBody>
      </p:sp>
      <p:sp>
        <p:nvSpPr>
          <p:cNvPr id="2" name="">
            <a:extLst xmlns:a="http://schemas.openxmlformats.org/drawingml/2006/main">
              <a:ext uri="{FF2B5EF4-FFF2-40B4-BE49-F238E27FC236}">
                <a16:creationId xmlns:a16="http://schemas.microsoft.com/office/drawing/2014/main" id="{BDA2656E-2330-4C8C-B2B0-B822EDFFA0A3}"/>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3EBDE2AF-3D67-4A7A-B310-45CDE5AD0D9C}"/>
              </a:ext>
            </a:extLst>
          </p:cNvPr>
          <p:cNvSpPr>
            <a:spLocks xmlns:a="http://schemas.openxmlformats.org/drawingml/2006/main" noGrp="1"/>
          </p:cNvSpPr>
          <p:nvPr/>
        </p:nvSpPr>
        <p:spPr>
          <a:xfrm xmlns:a="http://schemas.openxmlformats.org/drawingml/2006/main">
            <a:off x="723900" y="17049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A63D32"/>
                </a:solidFill>
                <a:latin typeface="Helvetica Neue"/>
                <a:ea typeface="Helvetica Neue"/>
                <a:cs typeface="Helvetica Neue"/>
              </a:defRPr>
            </a:pPr>
            <a:r>
              <a:rPr sz="3225" b="0">
                <a:solidFill>
                  <a:srgbClr val="A63D32"/>
                </a:solidFill>
                <a:latin typeface="Helvetica Neue"/>
                <a:ea typeface="Helvetica Neue"/>
                <a:cs typeface="Helvetica Neue"/>
              </a:rPr>
              <a:t>An old association can outlive its usefulness.</a:t>
            </a:r>
          </a:p>
        </p:txBody>
      </p:sp>
      <p:sp>
        <p:nvSpPr>
          <p:cNvPr id="4" name="">
            <a:extLst xmlns:a="http://schemas.openxmlformats.org/drawingml/2006/main">
              <a:ext uri="{FF2B5EF4-FFF2-40B4-BE49-F238E27FC236}">
                <a16:creationId xmlns:a16="http://schemas.microsoft.com/office/drawing/2014/main" id="{6E097A2C-4E33-456D-8290-64174D21FA70}"/>
              </a:ext>
            </a:extLst>
          </p:cNvPr>
          <p:cNvSpPr>
            <a:spLocks xmlns:a="http://schemas.openxmlformats.org/drawingml/2006/main" noGrp="1"/>
          </p:cNvSpPr>
          <p:nvPr/>
        </p:nvSpPr>
        <p:spPr>
          <a:xfrm xmlns:a="http://schemas.openxmlformats.org/drawingml/2006/main">
            <a:off x="723900" y="29432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66C70"/>
                </a:solidFill>
                <a:latin typeface="Helvetica Neue"/>
                <a:ea typeface="Helvetica Neue"/>
                <a:cs typeface="Helvetica Neue"/>
              </a:defRPr>
            </a:pPr>
            <a:r>
              <a:rPr sz="2250" b="0">
                <a:solidFill>
                  <a:srgbClr val="666C70"/>
                </a:solidFill>
                <a:latin typeface="Helvetica Neue"/>
                <a:ea typeface="Helvetica Neue"/>
                <a:cs typeface="Helvetica Neue"/>
              </a:rPr>
              <a:t>Keep adding forever, and old writes still influence later reads.</a:t>
            </a:r>
          </a:p>
        </p:txBody>
      </p:sp>
      <p:sp>
        <p:nvSpPr>
          <p:cNvPr id="5" name="">
            <a:extLst xmlns:a="http://schemas.openxmlformats.org/drawingml/2006/main">
              <a:ext uri="{FF2B5EF4-FFF2-40B4-BE49-F238E27FC236}">
                <a16:creationId xmlns:a16="http://schemas.microsoft.com/office/drawing/2014/main" id="{BCEE3E8E-273C-4653-9FCB-61EEDECA19CF}"/>
              </a:ext>
            </a:extLst>
          </p:cNvPr>
          <p:cNvSpPr>
            <a:spLocks xmlns:a="http://schemas.openxmlformats.org/drawingml/2006/main" noGrp="1"/>
          </p:cNvSpPr>
          <p:nvPr/>
        </p:nvSpPr>
        <p:spPr>
          <a:xfrm xmlns:a="http://schemas.openxmlformats.org/drawingml/2006/main">
            <a:off x="723900" y="406717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4634B"/>
                </a:solidFill>
                <a:latin typeface="Helvetica Neue"/>
                <a:ea typeface="Helvetica Neue"/>
                <a:cs typeface="Helvetica Neue"/>
              </a:defRPr>
            </a:pPr>
            <a:r>
              <a:rPr sz="3000" b="0">
                <a:solidFill>
                  <a:srgbClr val="24634B"/>
                </a:solidFill>
                <a:latin typeface="Helvetica Neue"/>
                <a:ea typeface="Helvetica Neue"/>
                <a:cs typeface="Helvetica Neue"/>
              </a:rPr>
              <a:t>First reduce what the state retains.</a:t>
            </a:r>
          </a:p>
          <a:p xmlns:a="http://schemas.openxmlformats.org/drawingml/2006/main">
            <a:pPr>
              <a:defRPr sz="3000" b="0">
                <a:solidFill>
                  <a:srgbClr val="24634B"/>
                </a:solidFill>
                <a:latin typeface="Helvetica Neue"/>
                <a:ea typeface="Helvetica Neue"/>
                <a:cs typeface="Helvetica Neue"/>
              </a:defRPr>
            </a:pPr>
            <a:r>
              <a:rPr sz="3000" b="0">
                <a:solidFill>
                  <a:srgbClr val="24634B"/>
                </a:solidFill>
                <a:latin typeface="Helvetica Neue"/>
                <a:ea typeface="Helvetica Neue"/>
                <a:cs typeface="Helvetica Neue"/>
              </a:rPr>
              <a:t>Then write the new association.</a:t>
            </a:r>
          </a:p>
        </p:txBody>
      </p:sp>
      <p:sp>
        <p:nvSpPr>
          <p:cNvPr id="6" name="">
            <a:extLst xmlns:a="http://schemas.openxmlformats.org/drawingml/2006/main">
              <a:ext uri="{FF2B5EF4-FFF2-40B4-BE49-F238E27FC236}">
                <a16:creationId xmlns:a16="http://schemas.microsoft.com/office/drawing/2014/main" id="{74B15FDF-D2D7-4A50-A911-1043A96DA552}"/>
              </a:ext>
            </a:extLst>
          </p:cNvPr>
          <p:cNvSpPr>
            <a:spLocks xmlns:a="http://schemas.openxmlformats.org/drawingml/2006/main" noGrp="1"/>
          </p:cNvSpPr>
          <p:nvPr/>
        </p:nvSpPr>
        <p:spPr>
          <a:xfrm xmlns:a="http://schemas.openxmlformats.org/drawingml/2006/main">
            <a:off x="723900" y="58102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124"/>
                </a:solidFill>
                <a:latin typeface="Helvetica Neue"/>
                <a:ea typeface="Helvetica Neue"/>
                <a:cs typeface="Helvetica Neue"/>
              </a:defRPr>
            </a:pPr>
            <a:r>
              <a:rPr sz="2100" b="0">
                <a:solidFill>
                  <a:srgbClr val="202124"/>
                </a:solidFill>
                <a:latin typeface="Helvetica Neue"/>
                <a:ea typeface="Helvetica Neue"/>
                <a:cs typeface="Helvetica Neue"/>
              </a:rPr>
              <a:t>P4 adds forgetting while keeping the same matrix size.</a:t>
            </a:r>
          </a:p>
        </p:txBody>
      </p:sp>
    </p:spTree>
    <p:extLst>
      <p:ext uri="{BB962C8B-B14F-4D97-AF65-F5344CB8AC3E}">
        <p14:creationId xmlns:p14="http://schemas.microsoft.com/office/powerpoint/2010/main" val="19024676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CC8254-1D95-4040-875D-B62A621CA853}"/>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P5: correct an association</a:t>
            </a:r>
          </a:p>
        </p:txBody>
      </p:sp>
      <p:sp>
        <p:nvSpPr>
          <p:cNvPr id="2" name="">
            <a:extLst xmlns:a="http://schemas.openxmlformats.org/drawingml/2006/main">
              <a:ext uri="{FF2B5EF4-FFF2-40B4-BE49-F238E27FC236}">
                <a16:creationId xmlns:a16="http://schemas.microsoft.com/office/drawing/2014/main" id="{91E601A2-958A-49CB-82D1-B40785A3FED1}"/>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04BE6205-5403-4BCC-BA10-99EC6D5CB2C8}"/>
              </a:ext>
            </a:extLst>
          </p:cNvPr>
          <p:cNvSpPr>
            <a:spLocks xmlns:a="http://schemas.openxmlformats.org/drawingml/2006/main" noGrp="1"/>
          </p:cNvSpPr>
          <p:nvPr/>
        </p:nvSpPr>
        <p:spPr>
          <a:xfrm xmlns:a="http://schemas.openxmlformats.org/drawingml/2006/main">
            <a:off x="723900" y="1524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2124"/>
                </a:solidFill>
                <a:latin typeface="Helvetica Neue"/>
                <a:ea typeface="Helvetica Neue"/>
                <a:cs typeface="Helvetica Neue"/>
              </a:defRPr>
            </a:pPr>
            <a:r>
              <a:rPr sz="2550" b="0">
                <a:solidFill>
                  <a:srgbClr val="202124"/>
                </a:solidFill>
                <a:latin typeface="Helvetica Neue"/>
                <a:ea typeface="Helvetica Neue"/>
                <a:cs typeface="Helvetica Neue"/>
              </a:rPr>
              <a:t>The same key first asks for 3, then asks for 7.</a:t>
            </a:r>
          </a:p>
        </p:txBody>
      </p:sp>
      <p:sp>
        <p:nvSpPr>
          <p:cNvPr id="4" name="">
            <a:extLst xmlns:a="http://schemas.openxmlformats.org/drawingml/2006/main">
              <a:ext uri="{FF2B5EF4-FFF2-40B4-BE49-F238E27FC236}">
                <a16:creationId xmlns:a16="http://schemas.microsoft.com/office/drawing/2014/main" id="{FBFE9057-8639-4569-A329-0886538A5740}"/>
              </a:ext>
            </a:extLst>
          </p:cNvPr>
          <p:cNvSpPr>
            <a:spLocks xmlns:a="http://schemas.openxmlformats.org/drawingml/2006/main" noGrp="1"/>
          </p:cNvSpPr>
          <p:nvPr/>
        </p:nvSpPr>
        <p:spPr>
          <a:xfrm xmlns:a="http://schemas.openxmlformats.org/drawingml/2006/main">
            <a:off x="723900" y="27146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63D32"/>
                </a:solidFill>
                <a:latin typeface="Helvetica Neue"/>
                <a:ea typeface="Helvetica Neue"/>
                <a:cs typeface="Helvetica Neue"/>
              </a:defRPr>
            </a:pPr>
            <a:r>
              <a:rPr sz="2100" b="0">
                <a:solidFill>
                  <a:srgbClr val="A63D32"/>
                </a:solidFill>
                <a:latin typeface="Helvetica Neue"/>
                <a:ea typeface="Helvetica Neue"/>
                <a:cs typeface="Helvetica Neue"/>
              </a:rPr>
              <a:t>Add another value</a:t>
            </a:r>
          </a:p>
        </p:txBody>
      </p:sp>
      <p:sp>
        <p:nvSpPr>
          <p:cNvPr id="5" name="">
            <a:extLst xmlns:a="http://schemas.openxmlformats.org/drawingml/2006/main">
              <a:ext uri="{FF2B5EF4-FFF2-40B4-BE49-F238E27FC236}">
                <a16:creationId xmlns:a16="http://schemas.microsoft.com/office/drawing/2014/main" id="{23EC45D9-1AB5-4148-8085-415A374D4417}"/>
              </a:ext>
            </a:extLst>
          </p:cNvPr>
          <p:cNvSpPr>
            <a:spLocks xmlns:a="http://schemas.openxmlformats.org/drawingml/2006/main" noGrp="1"/>
          </p:cNvSpPr>
          <p:nvPr/>
        </p:nvSpPr>
        <p:spPr>
          <a:xfrm xmlns:a="http://schemas.openxmlformats.org/drawingml/2006/main">
            <a:off x="723900" y="34290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0">
                <a:solidFill>
                  <a:srgbClr val="202124"/>
                </a:solidFill>
                <a:latin typeface="Times New Roman"/>
                <a:ea typeface="Times New Roman"/>
                <a:cs typeface="Times New Roman"/>
              </a:defRPr>
            </a:pPr>
            <a:r>
              <a:rPr sz="4050" b="0">
                <a:solidFill>
                  <a:srgbClr val="202124"/>
                </a:solidFill>
                <a:latin typeface="Times New Roman"/>
                <a:ea typeface="Times New Roman"/>
                <a:cs typeface="Times New Roman"/>
              </a:rPr>
              <a:t>3 + 7 = 10</a:t>
            </a:r>
          </a:p>
        </p:txBody>
      </p:sp>
      <p:sp>
        <p:nvSpPr>
          <p:cNvPr id="6" name="">
            <a:extLst xmlns:a="http://schemas.openxmlformats.org/drawingml/2006/main">
              <a:ext uri="{FF2B5EF4-FFF2-40B4-BE49-F238E27FC236}">
                <a16:creationId xmlns:a16="http://schemas.microsoft.com/office/drawing/2014/main" id="{CE525EB9-4623-480A-AA13-4E11BB5E32AD}"/>
              </a:ext>
            </a:extLst>
          </p:cNvPr>
          <p:cNvSpPr>
            <a:spLocks xmlns:a="http://schemas.openxmlformats.org/drawingml/2006/main" noGrp="1"/>
          </p:cNvSpPr>
          <p:nvPr/>
        </p:nvSpPr>
        <p:spPr>
          <a:xfrm xmlns:a="http://schemas.openxmlformats.org/drawingml/2006/main">
            <a:off x="6667500" y="27146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4634B"/>
                </a:solidFill>
                <a:latin typeface="Helvetica Neue"/>
                <a:ea typeface="Helvetica Neue"/>
                <a:cs typeface="Helvetica Neue"/>
              </a:defRPr>
            </a:pPr>
            <a:r>
              <a:rPr sz="2100" b="0">
                <a:solidFill>
                  <a:srgbClr val="24634B"/>
                </a:solidFill>
                <a:latin typeface="Helvetica Neue"/>
                <a:ea typeface="Helvetica Neue"/>
                <a:cs typeface="Helvetica Neue"/>
              </a:rPr>
              <a:t>Correct the prediction</a:t>
            </a:r>
          </a:p>
        </p:txBody>
      </p:sp>
      <p:sp>
        <p:nvSpPr>
          <p:cNvPr id="7" name="">
            <a:extLst xmlns:a="http://schemas.openxmlformats.org/drawingml/2006/main">
              <a:ext uri="{FF2B5EF4-FFF2-40B4-BE49-F238E27FC236}">
                <a16:creationId xmlns:a16="http://schemas.microsoft.com/office/drawing/2014/main" id="{5062853E-9892-46FB-A8CE-4DF2F0A39D35}"/>
              </a:ext>
            </a:extLst>
          </p:cNvPr>
          <p:cNvSpPr>
            <a:spLocks xmlns:a="http://schemas.openxmlformats.org/drawingml/2006/main" noGrp="1"/>
          </p:cNvSpPr>
          <p:nvPr/>
        </p:nvSpPr>
        <p:spPr>
          <a:xfrm xmlns:a="http://schemas.openxmlformats.org/drawingml/2006/main">
            <a:off x="6667500" y="34290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202124"/>
                </a:solidFill>
                <a:latin typeface="Times New Roman"/>
                <a:ea typeface="Times New Roman"/>
                <a:cs typeface="Times New Roman"/>
              </a:defRPr>
            </a:pPr>
            <a:r>
              <a:rPr sz="3750" b="0">
                <a:solidFill>
                  <a:srgbClr val="202124"/>
                </a:solidFill>
                <a:latin typeface="Times New Roman"/>
                <a:ea typeface="Times New Roman"/>
                <a:cs typeface="Times New Roman"/>
              </a:rPr>
              <a:t>3 + (7 − 3) = 7</a:t>
            </a:r>
          </a:p>
        </p:txBody>
      </p:sp>
      <p:sp>
        <p:nvSpPr>
          <p:cNvPr id="8" name="">
            <a:extLst xmlns:a="http://schemas.openxmlformats.org/drawingml/2006/main">
              <a:ext uri="{FF2B5EF4-FFF2-40B4-BE49-F238E27FC236}">
                <a16:creationId xmlns:a16="http://schemas.microsoft.com/office/drawing/2014/main" id="{837BCDBD-2BDD-4BDD-9AA1-3E7A639D9781}"/>
              </a:ext>
            </a:extLst>
          </p:cNvPr>
          <p:cNvSpPr>
            <a:spLocks xmlns:a="http://schemas.openxmlformats.org/drawingml/2006/main" noGrp="1"/>
          </p:cNvSpPr>
          <p:nvPr/>
        </p:nvSpPr>
        <p:spPr>
          <a:xfrm xmlns:a="http://schemas.openxmlformats.org/drawingml/2006/main">
            <a:off x="723900" y="48291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4634B"/>
                </a:solidFill>
                <a:latin typeface="Helvetica Neue"/>
                <a:ea typeface="Helvetica Neue"/>
                <a:cs typeface="Helvetica Neue"/>
              </a:defRPr>
            </a:pPr>
            <a:r>
              <a:rPr sz="2400" b="0">
                <a:solidFill>
                  <a:srgbClr val="24634B"/>
                </a:solidFill>
                <a:latin typeface="Helvetica Neue"/>
                <a:ea typeface="Helvetica Neue"/>
                <a:cs typeface="Helvetica Neue"/>
              </a:rPr>
              <a:t>Predict what memory already says. Write only the residual.</a:t>
            </a:r>
          </a:p>
        </p:txBody>
      </p:sp>
      <p:sp>
        <p:nvSpPr>
          <p:cNvPr id="9" name="">
            <a:extLst xmlns:a="http://schemas.openxmlformats.org/drawingml/2006/main">
              <a:ext uri="{FF2B5EF4-FFF2-40B4-BE49-F238E27FC236}">
                <a16:creationId xmlns:a16="http://schemas.microsoft.com/office/drawing/2014/main" id="{389926B8-C62B-4F1D-B8B8-355CE31D9BCF}"/>
              </a:ext>
            </a:extLst>
          </p:cNvPr>
          <p:cNvSpPr>
            <a:spLocks xmlns:a="http://schemas.openxmlformats.org/drawingml/2006/main" noGrp="1"/>
          </p:cNvSpPr>
          <p:nvPr/>
        </p:nvSpPr>
        <p:spPr>
          <a:xfrm xmlns:a="http://schemas.openxmlformats.org/drawingml/2006/main">
            <a:off x="723900" y="595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C70"/>
                </a:solidFill>
                <a:latin typeface="Helvetica Neue"/>
                <a:ea typeface="Helvetica Neue"/>
                <a:cs typeface="Helvetica Neue"/>
              </a:defRPr>
            </a:pPr>
            <a:r>
              <a:rPr sz="1650" b="0">
                <a:solidFill>
                  <a:srgbClr val="666C70"/>
                </a:solidFill>
                <a:latin typeface="Helvetica Neue"/>
                <a:ea typeface="Helvetica Neue"/>
                <a:cs typeface="Helvetica Neue"/>
              </a:rPr>
              <a:t>Scalar illustration: unit key and query; full correction strength.</a:t>
            </a:r>
          </a:p>
        </p:txBody>
      </p:sp>
    </p:spTree>
    <p:extLst>
      <p:ext uri="{BB962C8B-B14F-4D97-AF65-F5344CB8AC3E}">
        <p14:creationId xmlns:p14="http://schemas.microsoft.com/office/powerpoint/2010/main" val="14997566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ABCFEF-AC12-4570-BD73-FF109D67E764}"/>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P6: keep corrections in causal order</a:t>
            </a:r>
          </a:p>
        </p:txBody>
      </p:sp>
      <p:sp>
        <p:nvSpPr>
          <p:cNvPr id="2" name="">
            <a:extLst xmlns:a="http://schemas.openxmlformats.org/drawingml/2006/main">
              <a:ext uri="{FF2B5EF4-FFF2-40B4-BE49-F238E27FC236}">
                <a16:creationId xmlns:a16="http://schemas.microsoft.com/office/drawing/2014/main" id="{B1A707CC-1FF4-48BD-B9EE-A4C50E36CEED}"/>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60016A5C-A2C6-4CE8-B44A-A72E7CCDAD7C}"/>
              </a:ext>
            </a:extLst>
          </p:cNvPr>
          <p:cNvSpPr>
            <a:spLocks xmlns:a="http://schemas.openxmlformats.org/drawingml/2006/main" noGrp="1"/>
          </p:cNvSpPr>
          <p:nvPr/>
        </p:nvSpPr>
        <p:spPr>
          <a:xfrm xmlns:a="http://schemas.openxmlformats.org/drawingml/2006/main">
            <a:off x="723900" y="166687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A63D32"/>
                </a:solidFill>
                <a:latin typeface="Helvetica Neue"/>
                <a:ea typeface="Helvetica Neue"/>
                <a:cs typeface="Helvetica Neue"/>
              </a:defRPr>
            </a:pPr>
            <a:r>
              <a:rPr sz="3225" b="0">
                <a:solidFill>
                  <a:srgbClr val="A63D32"/>
                </a:solidFill>
                <a:latin typeface="Helvetica Neue"/>
                <a:ea typeface="Helvetica Neue"/>
                <a:cs typeface="Helvetica Neue"/>
              </a:rPr>
              <a:t>Token 1 changes the memory</a:t>
            </a:r>
          </a:p>
          <a:p xmlns:a="http://schemas.openxmlformats.org/drawingml/2006/main">
            <a:pPr>
              <a:defRPr sz="3225" b="0">
                <a:solidFill>
                  <a:srgbClr val="A63D32"/>
                </a:solidFill>
                <a:latin typeface="Helvetica Neue"/>
                <a:ea typeface="Helvetica Neue"/>
                <a:cs typeface="Helvetica Neue"/>
              </a:defRPr>
            </a:pPr>
            <a:r>
              <a:rPr sz="3225" b="0">
                <a:solidFill>
                  <a:srgbClr val="A63D32"/>
                </a:solidFill>
                <a:latin typeface="Helvetica Neue"/>
                <a:ea typeface="Helvetica Neue"/>
                <a:cs typeface="Helvetica Neue"/>
              </a:rPr>
              <a:t>that token 2 uses to predict.</a:t>
            </a:r>
          </a:p>
        </p:txBody>
      </p:sp>
      <p:sp>
        <p:nvSpPr>
          <p:cNvPr id="4" name="">
            <a:extLst xmlns:a="http://schemas.openxmlformats.org/drawingml/2006/main">
              <a:ext uri="{FF2B5EF4-FFF2-40B4-BE49-F238E27FC236}">
                <a16:creationId xmlns:a16="http://schemas.microsoft.com/office/drawing/2014/main" id="{56A7DBD6-0975-462A-8CB0-0F11856294BA}"/>
              </a:ext>
            </a:extLst>
          </p:cNvPr>
          <p:cNvSpPr>
            <a:spLocks xmlns:a="http://schemas.openxmlformats.org/drawingml/2006/main" noGrp="1"/>
          </p:cNvSpPr>
          <p:nvPr/>
        </p:nvSpPr>
        <p:spPr>
          <a:xfrm xmlns:a="http://schemas.openxmlformats.org/drawingml/2006/main">
            <a:off x="723900" y="3238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66C70"/>
                </a:solidFill>
                <a:latin typeface="Helvetica Neue"/>
                <a:ea typeface="Helvetica Neue"/>
                <a:cs typeface="Helvetica Neue"/>
              </a:defRPr>
            </a:pPr>
            <a:r>
              <a:rPr sz="2250" b="0">
                <a:solidFill>
                  <a:srgbClr val="666C70"/>
                </a:solidFill>
                <a:latin typeface="Helvetica Neue"/>
                <a:ea typeface="Helvetica Neue"/>
                <a:cs typeface="Helvetica Neue"/>
              </a:rPr>
              <a:t>Independent writes would miss that dependency.</a:t>
            </a:r>
          </a:p>
        </p:txBody>
      </p:sp>
      <p:sp>
        <p:nvSpPr>
          <p:cNvPr id="5" name="">
            <a:extLst xmlns:a="http://schemas.openxmlformats.org/drawingml/2006/main">
              <a:ext uri="{FF2B5EF4-FFF2-40B4-BE49-F238E27FC236}">
                <a16:creationId xmlns:a16="http://schemas.microsoft.com/office/drawing/2014/main" id="{26BD0A0F-1554-48AD-ABE5-8527DCE0105B}"/>
              </a:ext>
            </a:extLst>
          </p:cNvPr>
          <p:cNvSpPr>
            <a:spLocks xmlns:a="http://schemas.openxmlformats.org/drawingml/2006/main" noGrp="1"/>
          </p:cNvSpPr>
          <p:nvPr/>
        </p:nvSpPr>
        <p:spPr>
          <a:xfrm xmlns:a="http://schemas.openxmlformats.org/drawingml/2006/main">
            <a:off x="723900" y="42957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24634B"/>
                </a:solidFill>
                <a:latin typeface="Helvetica Neue"/>
                <a:ea typeface="Helvetica Neue"/>
                <a:cs typeface="Helvetica Neue"/>
              </a:defRPr>
            </a:pPr>
            <a:r>
              <a:rPr sz="2775" b="0">
                <a:solidFill>
                  <a:srgbClr val="24634B"/>
                </a:solidFill>
                <a:latin typeface="Helvetica Neue"/>
                <a:ea typeface="Helvetica Neue"/>
                <a:cs typeface="Helvetica Neue"/>
              </a:rPr>
              <a:t>The triangular solve preserves the order</a:t>
            </a:r>
          </a:p>
          <a:p xmlns:a="http://schemas.openxmlformats.org/drawingml/2006/main">
            <a:pPr>
              <a:defRPr sz="2775" b="0">
                <a:solidFill>
                  <a:srgbClr val="24634B"/>
                </a:solidFill>
                <a:latin typeface="Helvetica Neue"/>
                <a:ea typeface="Helvetica Neue"/>
                <a:cs typeface="Helvetica Neue"/>
              </a:defRPr>
            </a:pPr>
            <a:r>
              <a:rPr sz="2775" b="0">
                <a:solidFill>
                  <a:srgbClr val="24634B"/>
                </a:solidFill>
                <a:latin typeface="Helvetica Neue"/>
                <a:ea typeface="Helvetica Neue"/>
                <a:cs typeface="Helvetica Neue"/>
              </a:rPr>
              <a:t>inside a chunk of corrections.</a:t>
            </a:r>
          </a:p>
        </p:txBody>
      </p:sp>
      <p:sp>
        <p:nvSpPr>
          <p:cNvPr id="6" name="">
            <a:extLst xmlns:a="http://schemas.openxmlformats.org/drawingml/2006/main">
              <a:ext uri="{FF2B5EF4-FFF2-40B4-BE49-F238E27FC236}">
                <a16:creationId xmlns:a16="http://schemas.microsoft.com/office/drawing/2014/main" id="{10A93AEE-3DE6-4971-B073-8BE9E5B98251}"/>
              </a:ext>
            </a:extLst>
          </p:cNvPr>
          <p:cNvSpPr>
            <a:spLocks xmlns:a="http://schemas.openxmlformats.org/drawingml/2006/main" noGrp="1"/>
          </p:cNvSpPr>
          <p:nvPr/>
        </p:nvSpPr>
        <p:spPr>
          <a:xfrm xmlns:a="http://schemas.openxmlformats.org/drawingml/2006/main">
            <a:off x="723900" y="58674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124"/>
                </a:solidFill>
                <a:latin typeface="Helvetica Neue"/>
                <a:ea typeface="Helvetica Neue"/>
                <a:cs typeface="Helvetica Neue"/>
              </a:defRPr>
            </a:pPr>
            <a:r>
              <a:rPr sz="2025" b="0">
                <a:solidFill>
                  <a:srgbClr val="202124"/>
                </a:solidFill>
                <a:latin typeface="Helvetica Neue"/>
                <a:ea typeface="Helvetica Neue"/>
                <a:cs typeface="Helvetica Neue"/>
              </a:rPr>
              <a:t>Build the correction factors, then reuse P3’s output kernel.</a:t>
            </a:r>
          </a:p>
        </p:txBody>
      </p:sp>
    </p:spTree>
    <p:extLst>
      <p:ext uri="{BB962C8B-B14F-4D97-AF65-F5344CB8AC3E}">
        <p14:creationId xmlns:p14="http://schemas.microsoft.com/office/powerpoint/2010/main" val="10060690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970D15-785D-4A15-AA48-01E0E5345CFE}"/>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P7: forget stale memory and correct the current key</a:t>
            </a:r>
          </a:p>
        </p:txBody>
      </p:sp>
      <p:sp>
        <p:nvSpPr>
          <p:cNvPr id="2" name="">
            <a:extLst xmlns:a="http://schemas.openxmlformats.org/drawingml/2006/main">
              <a:ext uri="{FF2B5EF4-FFF2-40B4-BE49-F238E27FC236}">
                <a16:creationId xmlns:a16="http://schemas.microsoft.com/office/drawing/2014/main" id="{34C3E822-732A-4792-9978-18680CE78FB2}"/>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B4E94ED3-26C9-4CA0-8464-121258525ED6}"/>
              </a:ext>
            </a:extLst>
          </p:cNvPr>
          <p:cNvSpPr>
            <a:spLocks xmlns:a="http://schemas.openxmlformats.org/drawingml/2006/main" noGrp="1"/>
          </p:cNvSpPr>
          <p:nvPr/>
        </p:nvSpPr>
        <p:spPr>
          <a:xfrm xmlns:a="http://schemas.openxmlformats.org/drawingml/2006/main">
            <a:off x="723900" y="17430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A63D32"/>
                </a:solidFill>
                <a:latin typeface="Helvetica Neue"/>
                <a:ea typeface="Helvetica Neue"/>
                <a:cs typeface="Helvetica Neue"/>
              </a:defRPr>
            </a:pPr>
            <a:r>
              <a:rPr sz="2550" b="0">
                <a:solidFill>
                  <a:srgbClr val="A63D32"/>
                </a:solidFill>
                <a:latin typeface="Helvetica Neue"/>
                <a:ea typeface="Helvetica Neue"/>
                <a:cs typeface="Helvetica Neue"/>
              </a:rPr>
              <a:t>Forgetting</a:t>
            </a:r>
          </a:p>
        </p:txBody>
      </p:sp>
      <p:sp>
        <p:nvSpPr>
          <p:cNvPr id="4" name="">
            <a:extLst xmlns:a="http://schemas.openxmlformats.org/drawingml/2006/main">
              <a:ext uri="{FF2B5EF4-FFF2-40B4-BE49-F238E27FC236}">
                <a16:creationId xmlns:a16="http://schemas.microsoft.com/office/drawing/2014/main" id="{EB41C4D9-4761-4945-BDC1-68208C920B46}"/>
              </a:ext>
            </a:extLst>
          </p:cNvPr>
          <p:cNvSpPr>
            <a:spLocks xmlns:a="http://schemas.openxmlformats.org/drawingml/2006/main" noGrp="1"/>
          </p:cNvSpPr>
          <p:nvPr/>
        </p:nvSpPr>
        <p:spPr>
          <a:xfrm xmlns:a="http://schemas.openxmlformats.org/drawingml/2006/main">
            <a:off x="723900" y="25431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02124"/>
                </a:solidFill>
                <a:latin typeface="Helvetica Neue"/>
                <a:ea typeface="Helvetica Neue"/>
                <a:cs typeface="Helvetica Neue"/>
              </a:defRPr>
            </a:pPr>
            <a:r>
              <a:rPr sz="3000" b="0">
                <a:solidFill>
                  <a:srgbClr val="202124"/>
                </a:solidFill>
                <a:latin typeface="Helvetica Neue"/>
                <a:ea typeface="Helvetica Neue"/>
                <a:cs typeface="Helvetica Neue"/>
              </a:rPr>
              <a:t>Reduce the influence</a:t>
            </a:r>
          </a:p>
          <a:p xmlns:a="http://schemas.openxmlformats.org/drawingml/2006/main">
            <a:pPr>
              <a:defRPr sz="3000" b="0">
                <a:solidFill>
                  <a:srgbClr val="202124"/>
                </a:solidFill>
                <a:latin typeface="Helvetica Neue"/>
                <a:ea typeface="Helvetica Neue"/>
                <a:cs typeface="Helvetica Neue"/>
              </a:defRPr>
            </a:pPr>
            <a:r>
              <a:rPr sz="3000" b="0">
                <a:solidFill>
                  <a:srgbClr val="202124"/>
                </a:solidFill>
                <a:latin typeface="Helvetica Neue"/>
                <a:ea typeface="Helvetica Neue"/>
                <a:cs typeface="Helvetica Neue"/>
              </a:rPr>
              <a:t>of old memory.</a:t>
            </a:r>
          </a:p>
        </p:txBody>
      </p:sp>
      <p:sp>
        <p:nvSpPr>
          <p:cNvPr id="5" name="">
            <a:extLst xmlns:a="http://schemas.openxmlformats.org/drawingml/2006/main">
              <a:ext uri="{FF2B5EF4-FFF2-40B4-BE49-F238E27FC236}">
                <a16:creationId xmlns:a16="http://schemas.microsoft.com/office/drawing/2014/main" id="{BFE1B83C-BDC4-4710-9403-CC12E280B2F8}"/>
              </a:ext>
            </a:extLst>
          </p:cNvPr>
          <p:cNvSpPr>
            <a:spLocks xmlns:a="http://schemas.openxmlformats.org/drawingml/2006/main" noGrp="1"/>
          </p:cNvSpPr>
          <p:nvPr/>
        </p:nvSpPr>
        <p:spPr>
          <a:xfrm xmlns:a="http://schemas.openxmlformats.org/drawingml/2006/main">
            <a:off x="6667500" y="17430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4634B"/>
                </a:solidFill>
                <a:latin typeface="Helvetica Neue"/>
                <a:ea typeface="Helvetica Neue"/>
                <a:cs typeface="Helvetica Neue"/>
              </a:defRPr>
            </a:pPr>
            <a:r>
              <a:rPr sz="2550" b="0">
                <a:solidFill>
                  <a:srgbClr val="24634B"/>
                </a:solidFill>
                <a:latin typeface="Helvetica Neue"/>
                <a:ea typeface="Helvetica Neue"/>
                <a:cs typeface="Helvetica Neue"/>
              </a:rPr>
              <a:t>Correction</a:t>
            </a:r>
          </a:p>
        </p:txBody>
      </p:sp>
      <p:sp>
        <p:nvSpPr>
          <p:cNvPr id="6" name="">
            <a:extLst xmlns:a="http://schemas.openxmlformats.org/drawingml/2006/main">
              <a:ext uri="{FF2B5EF4-FFF2-40B4-BE49-F238E27FC236}">
                <a16:creationId xmlns:a16="http://schemas.microsoft.com/office/drawing/2014/main" id="{E6F293DC-4D83-4A9A-8AE2-11F51A805692}"/>
              </a:ext>
            </a:extLst>
          </p:cNvPr>
          <p:cNvSpPr>
            <a:spLocks xmlns:a="http://schemas.openxmlformats.org/drawingml/2006/main" noGrp="1"/>
          </p:cNvSpPr>
          <p:nvPr/>
        </p:nvSpPr>
        <p:spPr>
          <a:xfrm xmlns:a="http://schemas.openxmlformats.org/drawingml/2006/main">
            <a:off x="6667500" y="25431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02124"/>
                </a:solidFill>
                <a:latin typeface="Helvetica Neue"/>
                <a:ea typeface="Helvetica Neue"/>
                <a:cs typeface="Helvetica Neue"/>
              </a:defRPr>
            </a:pPr>
            <a:r>
              <a:rPr sz="3000" b="0">
                <a:solidFill>
                  <a:srgbClr val="202124"/>
                </a:solidFill>
                <a:latin typeface="Helvetica Neue"/>
                <a:ea typeface="Helvetica Neue"/>
                <a:cs typeface="Helvetica Neue"/>
              </a:rPr>
              <a:t>Revise the association</a:t>
            </a:r>
          </a:p>
          <a:p xmlns:a="http://schemas.openxmlformats.org/drawingml/2006/main">
            <a:pPr>
              <a:defRPr sz="3000" b="0">
                <a:solidFill>
                  <a:srgbClr val="202124"/>
                </a:solidFill>
                <a:latin typeface="Helvetica Neue"/>
                <a:ea typeface="Helvetica Neue"/>
                <a:cs typeface="Helvetica Neue"/>
              </a:defRPr>
            </a:pPr>
            <a:r>
              <a:rPr sz="3000" b="0">
                <a:solidFill>
                  <a:srgbClr val="202124"/>
                </a:solidFill>
                <a:latin typeface="Helvetica Neue"/>
                <a:ea typeface="Helvetica Neue"/>
                <a:cs typeface="Helvetica Neue"/>
              </a:rPr>
              <a:t>addressed by this key.</a:t>
            </a:r>
          </a:p>
        </p:txBody>
      </p:sp>
      <p:sp>
        <p:nvSpPr>
          <p:cNvPr id="7" name="">
            <a:extLst xmlns:a="http://schemas.openxmlformats.org/drawingml/2006/main">
              <a:ext uri="{FF2B5EF4-FFF2-40B4-BE49-F238E27FC236}">
                <a16:creationId xmlns:a16="http://schemas.microsoft.com/office/drawing/2014/main" id="{1EF80DEA-54AE-4475-823D-AE034285A69A}"/>
              </a:ext>
            </a:extLst>
          </p:cNvPr>
          <p:cNvSpPr>
            <a:spLocks xmlns:a="http://schemas.openxmlformats.org/drawingml/2006/main" noGrp="1"/>
          </p:cNvSpPr>
          <p:nvPr/>
        </p:nvSpPr>
        <p:spPr>
          <a:xfrm xmlns:a="http://schemas.openxmlformats.org/drawingml/2006/main">
            <a:off x="723900" y="46958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4634B"/>
                </a:solidFill>
                <a:latin typeface="Helvetica Neue"/>
                <a:ea typeface="Helvetica Neue"/>
                <a:cs typeface="Helvetica Neue"/>
              </a:defRPr>
            </a:pPr>
            <a:r>
              <a:rPr sz="2625" b="0">
                <a:solidFill>
                  <a:srgbClr val="24634B"/>
                </a:solidFill>
                <a:latin typeface="Helvetica Neue"/>
                <a:ea typeface="Helvetica Neue"/>
                <a:cs typeface="Helvetica Neue"/>
              </a:rPr>
              <a:t>Forget first. Predict from what remains. Correct it.</a:t>
            </a:r>
          </a:p>
        </p:txBody>
      </p:sp>
      <p:sp>
        <p:nvSpPr>
          <p:cNvPr id="8" name="">
            <a:extLst xmlns:a="http://schemas.openxmlformats.org/drawingml/2006/main">
              <a:ext uri="{FF2B5EF4-FFF2-40B4-BE49-F238E27FC236}">
                <a16:creationId xmlns:a16="http://schemas.microsoft.com/office/drawing/2014/main" id="{93E8FC3B-814D-4DAF-96F0-BFFB8919E142}"/>
              </a:ext>
            </a:extLst>
          </p:cNvPr>
          <p:cNvSpPr>
            <a:spLocks xmlns:a="http://schemas.openxmlformats.org/drawingml/2006/main" noGrp="1"/>
          </p:cNvSpPr>
          <p:nvPr/>
        </p:nvSpPr>
        <p:spPr>
          <a:xfrm xmlns:a="http://schemas.openxmlformats.org/drawingml/2006/main">
            <a:off x="723900" y="595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66C70"/>
                </a:solidFill>
                <a:latin typeface="Helvetica Neue"/>
                <a:ea typeface="Helvetica Neue"/>
                <a:cs typeface="Helvetica Neue"/>
              </a:defRPr>
            </a:pPr>
            <a:r>
              <a:rPr sz="1950" b="0">
                <a:solidFill>
                  <a:srgbClr val="666C70"/>
                </a:solidFill>
                <a:latin typeface="Helvetica Neue"/>
                <a:ea typeface="Helvetica Neue"/>
                <a:cs typeface="Helvetica Neue"/>
              </a:rPr>
              <a:t>P7 combines both ideas in Gated DeltaNet.</a:t>
            </a:r>
          </a:p>
        </p:txBody>
      </p:sp>
    </p:spTree>
    <p:extLst>
      <p:ext uri="{BB962C8B-B14F-4D97-AF65-F5344CB8AC3E}">
        <p14:creationId xmlns:p14="http://schemas.microsoft.com/office/powerpoint/2010/main" val="19238994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7975B5-0A77-4211-A169-7A2D2C84AE35}"/>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P8: let different associations age differently</a:t>
            </a:r>
          </a:p>
        </p:txBody>
      </p:sp>
      <p:sp>
        <p:nvSpPr>
          <p:cNvPr id="2" name="">
            <a:extLst xmlns:a="http://schemas.openxmlformats.org/drawingml/2006/main">
              <a:ext uri="{FF2B5EF4-FFF2-40B4-BE49-F238E27FC236}">
                <a16:creationId xmlns:a16="http://schemas.microsoft.com/office/drawing/2014/main" id="{043549EF-D4FA-47EF-AE22-A1D6A7A6071B}"/>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1812C200-92D0-445A-9898-203700CCC69D}"/>
              </a:ext>
            </a:extLst>
          </p:cNvPr>
          <p:cNvSpPr>
            <a:spLocks xmlns:a="http://schemas.openxmlformats.org/drawingml/2006/main" noGrp="1"/>
          </p:cNvSpPr>
          <p:nvPr/>
        </p:nvSpPr>
        <p:spPr>
          <a:xfrm xmlns:a="http://schemas.openxmlformats.org/drawingml/2006/main">
            <a:off x="723900" y="166687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4634B"/>
                </a:solidFill>
                <a:latin typeface="Helvetica Neue"/>
                <a:ea typeface="Helvetica Neue"/>
                <a:cs typeface="Helvetica Neue"/>
              </a:defRPr>
            </a:pPr>
            <a:r>
              <a:rPr sz="3225" b="0">
                <a:solidFill>
                  <a:srgbClr val="24634B"/>
                </a:solidFill>
                <a:latin typeface="Helvetica Neue"/>
                <a:ea typeface="Helvetica Neue"/>
                <a:cs typeface="Helvetica Neue"/>
              </a:rPr>
              <a:t>Some information should persist.</a:t>
            </a:r>
          </a:p>
          <a:p xmlns:a="http://schemas.openxmlformats.org/drawingml/2006/main">
            <a:pPr>
              <a:defRPr sz="3225" b="0">
                <a:solidFill>
                  <a:srgbClr val="24634B"/>
                </a:solidFill>
                <a:latin typeface="Helvetica Neue"/>
                <a:ea typeface="Helvetica Neue"/>
                <a:cs typeface="Helvetica Neue"/>
              </a:defRPr>
            </a:pPr>
            <a:r>
              <a:rPr sz="3225" b="0">
                <a:solidFill>
                  <a:srgbClr val="24634B"/>
                </a:solidFill>
                <a:latin typeface="Helvetica Neue"/>
                <a:ea typeface="Helvetica Neue"/>
                <a:cs typeface="Helvetica Neue"/>
              </a:rPr>
              <a:t>Some should fade sooner.</a:t>
            </a:r>
          </a:p>
        </p:txBody>
      </p:sp>
      <p:sp>
        <p:nvSpPr>
          <p:cNvPr id="4" name="">
            <a:extLst xmlns:a="http://schemas.openxmlformats.org/drawingml/2006/main">
              <a:ext uri="{FF2B5EF4-FFF2-40B4-BE49-F238E27FC236}">
                <a16:creationId xmlns:a16="http://schemas.microsoft.com/office/drawing/2014/main" id="{E3634332-3724-4B69-BB9B-1E6F021E5A77}"/>
              </a:ext>
            </a:extLst>
          </p:cNvPr>
          <p:cNvSpPr>
            <a:spLocks xmlns:a="http://schemas.openxmlformats.org/drawingml/2006/main" noGrp="1"/>
          </p:cNvSpPr>
          <p:nvPr/>
        </p:nvSpPr>
        <p:spPr>
          <a:xfrm xmlns:a="http://schemas.openxmlformats.org/drawingml/2006/main">
            <a:off x="723900" y="32956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124"/>
                </a:solidFill>
                <a:latin typeface="Helvetica Neue"/>
                <a:ea typeface="Helvetica Neue"/>
                <a:cs typeface="Helvetica Neue"/>
              </a:defRPr>
            </a:pPr>
            <a:r>
              <a:rPr sz="2475" b="0">
                <a:solidFill>
                  <a:srgbClr val="202124"/>
                </a:solidFill>
                <a:latin typeface="Helvetica Neue"/>
                <a:ea typeface="Helvetica Neue"/>
                <a:cs typeface="Helvetica Neue"/>
              </a:rPr>
              <a:t>KDA refines forgetting across the key channels</a:t>
            </a:r>
          </a:p>
          <a:p xmlns:a="http://schemas.openxmlformats.org/drawingml/2006/main">
            <a:pPr>
              <a:defRPr sz="2475" b="0">
                <a:solidFill>
                  <a:srgbClr val="202124"/>
                </a:solidFill>
                <a:latin typeface="Helvetica Neue"/>
                <a:ea typeface="Helvetica Neue"/>
                <a:cs typeface="Helvetica Neue"/>
              </a:defRPr>
            </a:pPr>
            <a:r>
              <a:rPr sz="2475" b="0">
                <a:solidFill>
                  <a:srgbClr val="202124"/>
                </a:solidFill>
                <a:latin typeface="Helvetica Neue"/>
                <a:ea typeface="Helvetica Neue"/>
                <a:cs typeface="Helvetica Neue"/>
              </a:rPr>
              <a:t>of the same fixed-size memory.</a:t>
            </a:r>
          </a:p>
        </p:txBody>
      </p:sp>
      <p:sp>
        <p:nvSpPr>
          <p:cNvPr id="5" name="">
            <a:extLst xmlns:a="http://schemas.openxmlformats.org/drawingml/2006/main">
              <a:ext uri="{FF2B5EF4-FFF2-40B4-BE49-F238E27FC236}">
                <a16:creationId xmlns:a16="http://schemas.microsoft.com/office/drawing/2014/main" id="{ED683493-E787-4E27-BD51-3DCC0A843DB8}"/>
              </a:ext>
            </a:extLst>
          </p:cNvPr>
          <p:cNvSpPr>
            <a:spLocks xmlns:a="http://schemas.openxmlformats.org/drawingml/2006/main" noGrp="1"/>
          </p:cNvSpPr>
          <p:nvPr/>
        </p:nvSpPr>
        <p:spPr>
          <a:xfrm xmlns:a="http://schemas.openxmlformats.org/drawingml/2006/main">
            <a:off x="723900" y="4743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124"/>
                </a:solidFill>
                <a:latin typeface="Helvetica Neue"/>
                <a:ea typeface="Helvetica Neue"/>
                <a:cs typeface="Helvetica Neue"/>
              </a:defRPr>
            </a:pPr>
            <a:r>
              <a:rPr sz="2400" b="0">
                <a:solidFill>
                  <a:srgbClr val="202124"/>
                </a:solidFill>
                <a:latin typeface="Helvetica Neue"/>
                <a:ea typeface="Helvetica Neue"/>
                <a:cs typeface="Helvetica Neue"/>
              </a:rPr>
              <a:t>It still predicts and corrects the current association.</a:t>
            </a:r>
          </a:p>
        </p:txBody>
      </p:sp>
      <p:sp>
        <p:nvSpPr>
          <p:cNvPr id="6" name="">
            <a:extLst xmlns:a="http://schemas.openxmlformats.org/drawingml/2006/main">
              <a:ext uri="{FF2B5EF4-FFF2-40B4-BE49-F238E27FC236}">
                <a16:creationId xmlns:a16="http://schemas.microsoft.com/office/drawing/2014/main" id="{AE57CCA3-DED7-42E2-9F3D-8180B5C0A8A4}"/>
              </a:ext>
            </a:extLst>
          </p:cNvPr>
          <p:cNvSpPr>
            <a:spLocks xmlns:a="http://schemas.openxmlformats.org/drawingml/2006/main" noGrp="1"/>
          </p:cNvSpPr>
          <p:nvPr/>
        </p:nvSpPr>
        <p:spPr>
          <a:xfrm xmlns:a="http://schemas.openxmlformats.org/drawingml/2006/main">
            <a:off x="723900" y="58959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66C70"/>
                </a:solidFill>
                <a:latin typeface="Helvetica Neue"/>
                <a:ea typeface="Helvetica Neue"/>
                <a:cs typeface="Helvetica Neue"/>
              </a:defRPr>
            </a:pPr>
            <a:r>
              <a:rPr sz="1950" b="0">
                <a:solidFill>
                  <a:srgbClr val="666C70"/>
                </a:solidFill>
                <a:latin typeface="Helvetica Neue"/>
                <a:ea typeface="Helvetica Neue"/>
                <a:cs typeface="Helvetica Neue"/>
              </a:rPr>
              <a:t>P8: recurrent KDA + stable scores for the chunked algorithm.</a:t>
            </a:r>
          </a:p>
        </p:txBody>
      </p:sp>
    </p:spTree>
    <p:extLst>
      <p:ext uri="{BB962C8B-B14F-4D97-AF65-F5344CB8AC3E}">
        <p14:creationId xmlns:p14="http://schemas.microsoft.com/office/powerpoint/2010/main" val="14112684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833A00-B613-4D45-A11F-D19BC5B681C7}"/>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P9: assemble the complete KDA forward pass</a:t>
            </a:r>
          </a:p>
        </p:txBody>
      </p:sp>
      <p:sp>
        <p:nvSpPr>
          <p:cNvPr id="2" name="">
            <a:extLst xmlns:a="http://schemas.openxmlformats.org/drawingml/2006/main">
              <a:ext uri="{FF2B5EF4-FFF2-40B4-BE49-F238E27FC236}">
                <a16:creationId xmlns:a16="http://schemas.microsoft.com/office/drawing/2014/main" id="{3C96BAA8-DE04-4D19-AC01-4CF7DC5CE017}"/>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056FF794-A49F-4BE6-95A7-E80238FE27BE}"/>
              </a:ext>
            </a:extLst>
          </p:cNvPr>
          <p:cNvSpPr>
            <a:spLocks xmlns:a="http://schemas.openxmlformats.org/drawingml/2006/main" noGrp="1"/>
          </p:cNvSpPr>
          <p:nvPr/>
        </p:nvSpPr>
        <p:spPr>
          <a:xfrm xmlns:a="http://schemas.openxmlformats.org/drawingml/2006/main">
            <a:off x="723900" y="147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4634B"/>
                </a:solidFill>
                <a:latin typeface="Helvetica Neue"/>
                <a:ea typeface="Helvetica Neue"/>
                <a:cs typeface="Helvetica Neue"/>
              </a:defRPr>
            </a:pPr>
            <a:r>
              <a:rPr sz="2400" b="0">
                <a:solidFill>
                  <a:srgbClr val="24634B"/>
                </a:solidFill>
                <a:latin typeface="Helvetica Neue"/>
                <a:ea typeface="Helvetica Neue"/>
                <a:cs typeface="Helvetica Neue"/>
              </a:rPr>
              <a:t>Your earlier kernels become the final implementation.</a:t>
            </a:r>
          </a:p>
        </p:txBody>
      </p:sp>
      <p:graphicFrame>
        <p:nvGraphicFramePr>
          <p:cNvPr id="9" name=""/>
          <p:cNvGraphicFramePr/>
          <p:nvPr/>
        </p:nvGraphicFramePr>
        <p:xfrm>
          <a:off xmlns:a="http://schemas.openxmlformats.org/drawingml/2006/main" x="723900" y="2514600"/>
          <a:ext xmlns:a="http://schemas.openxmlformats.org/drawingml/2006/main" cx="10668000" cy="2571750"/>
        </p:xfrm>
        <a:graphic xmlns:a="http://schemas.openxmlformats.org/drawingml/2006/main">
          <a:graphicData uri="http://schemas.openxmlformats.org/drawingml/2006/table">
            <a:tbl>
              <a:tblPr firstRow="0" firstCol="0" bandRow="0" bandCol="0"/>
              <a:tblGrid>
                <a:gridCol w="3810000"/>
                <a:gridCol w="6858000"/>
              </a:tblGrid>
              <a:tr h="642938">
                <a:tc>
                  <a:txBody>
                    <a:bodyPr/>
                    <a:lstStyle/>
                    <a:p>
                      <a:pPr algn="ctr"/>
                      <a:r>
                        <a:rPr sz="2025">
                          <a:solidFill>
                            <a:srgbClr val="666C70"/>
                          </a:solidFill>
                          <a:latin typeface="Helvetica Neue"/>
                          <a:ea typeface="Helvetica Neue"/>
                          <a:cs typeface="Helvetica Neue"/>
                        </a:rPr>
                        <a:t>Earlier work</a:t>
                      </a:r>
                    </a:p>
                  </a:txBody>
                  <a:tcPr marL="91440" marR="91440" marT="45720" marB="45720">
                    <a:solidFill>
                      <a:srgbClr val="FFFFFF"/>
                    </a:solidFill>
                  </a:tcPr>
                </a:tc>
                <a:tc>
                  <a:txBody>
                    <a:bodyPr/>
                    <a:lstStyle/>
                    <a:p>
                      <a:pPr algn="ctr"/>
                      <a:r>
                        <a:rPr sz="2025">
                          <a:solidFill>
                            <a:srgbClr val="666C70"/>
                          </a:solidFill>
                          <a:latin typeface="Helvetica Neue"/>
                          <a:ea typeface="Helvetica Neue"/>
                          <a:cs typeface="Helvetica Neue"/>
                        </a:rPr>
                        <a:t>Role in KDA</a:t>
                      </a:r>
                    </a:p>
                  </a:txBody>
                  <a:tcPr marL="91440" marR="91440" marT="45720" marB="45720">
                    <a:solidFill>
                      <a:srgbClr val="FFFFFF"/>
                    </a:solidFill>
                  </a:tcPr>
                </a:tc>
              </a:tr>
              <a:tr h="642938">
                <a:tc>
                  <a:txBody>
                    <a:bodyPr/>
                    <a:lstStyle/>
                    <a:p>
                      <a:pPr algn="ctr"/>
                      <a:r>
                        <a:rPr sz="2025">
                          <a:solidFill>
                            <a:srgbClr val="202124"/>
                          </a:solidFill>
                          <a:latin typeface="Helvetica Neue"/>
                          <a:ea typeface="Helvetica Neue"/>
                          <a:cs typeface="Helvetica Neue"/>
                        </a:rPr>
                        <a:t>P4: prefix scan</a:t>
                      </a:r>
                    </a:p>
                  </a:txBody>
                  <a:tcPr marL="91440" marR="91440" marT="45720" marB="45720">
                    <a:solidFill>
                      <a:srgbClr val="FFFFFF"/>
                    </a:solidFill>
                  </a:tcPr>
                </a:tc>
                <a:tc>
                  <a:txBody>
                    <a:bodyPr/>
                    <a:lstStyle/>
                    <a:p>
                      <a:pPr algn="ctr"/>
                      <a:r>
                        <a:rPr sz="2025">
                          <a:solidFill>
                            <a:srgbClr val="202124"/>
                          </a:solidFill>
                          <a:latin typeface="Helvetica Neue"/>
                          <a:ea typeface="Helvetica Neue"/>
                          <a:cs typeface="Helvetica Neue"/>
                        </a:rPr>
                        <a:t>Transport retained memory through a chunk</a:t>
                      </a:r>
                    </a:p>
                  </a:txBody>
                  <a:tcPr marL="91440" marR="91440" marT="45720" marB="45720">
                    <a:solidFill>
                      <a:srgbClr val="FFFFFF"/>
                    </a:solidFill>
                  </a:tcPr>
                </a:tc>
              </a:tr>
              <a:tr h="642938">
                <a:tc>
                  <a:txBody>
                    <a:bodyPr/>
                    <a:lstStyle/>
                    <a:p>
                      <a:pPr algn="ctr"/>
                      <a:r>
                        <a:rPr sz="2025">
                          <a:solidFill>
                            <a:srgbClr val="202124"/>
                          </a:solidFill>
                          <a:latin typeface="Helvetica Neue"/>
                          <a:ea typeface="Helvetica Neue"/>
                          <a:cs typeface="Helvetica Neue"/>
                        </a:rPr>
                        <a:t>P6: triangular inverse</a:t>
                      </a:r>
                    </a:p>
                  </a:txBody>
                  <a:tcPr marL="91440" marR="91440" marT="45720" marB="45720">
                    <a:solidFill>
                      <a:srgbClr val="FFFFFF"/>
                    </a:solidFill>
                  </a:tcPr>
                </a:tc>
                <a:tc>
                  <a:txBody>
                    <a:bodyPr/>
                    <a:lstStyle/>
                    <a:p>
                      <a:pPr algn="ctr"/>
                      <a:r>
                        <a:rPr sz="2025">
                          <a:solidFill>
                            <a:srgbClr val="202124"/>
                          </a:solidFill>
                          <a:latin typeface="Helvetica Neue"/>
                          <a:ea typeface="Helvetica Neue"/>
                          <a:cs typeface="Helvetica Neue"/>
                        </a:rPr>
                        <a:t>Preserve the order of delta corrections</a:t>
                      </a:r>
                    </a:p>
                  </a:txBody>
                  <a:tcPr marL="91440" marR="91440" marT="45720" marB="45720">
                    <a:solidFill>
                      <a:srgbClr val="FFFFFF"/>
                    </a:solidFill>
                  </a:tcPr>
                </a:tc>
              </a:tr>
              <a:tr h="642938">
                <a:tc>
                  <a:txBody>
                    <a:bodyPr/>
                    <a:lstStyle/>
                    <a:p>
                      <a:pPr algn="ctr"/>
                      <a:r>
                        <a:rPr sz="2025">
                          <a:solidFill>
                            <a:srgbClr val="202124"/>
                          </a:solidFill>
                          <a:latin typeface="Helvetica Neue"/>
                          <a:ea typeface="Helvetica Neue"/>
                          <a:cs typeface="Helvetica Neue"/>
                        </a:rPr>
                        <a:t>P8: stable scores</a:t>
                      </a:r>
                    </a:p>
                  </a:txBody>
                  <a:tcPr marL="91440" marR="91440" marT="45720" marB="45720">
                    <a:solidFill>
                      <a:srgbClr val="FFFFFF"/>
                    </a:solidFill>
                  </a:tcPr>
                </a:tc>
                <a:tc>
                  <a:txBody>
                    <a:bodyPr/>
                    <a:lstStyle/>
                    <a:p>
                      <a:pPr algn="ctr"/>
                      <a:r>
                        <a:rPr sz="2025">
                          <a:solidFill>
                            <a:srgbClr val="202124"/>
                          </a:solidFill>
                          <a:latin typeface="Helvetica Neue"/>
                          <a:ea typeface="Helvetica Neue"/>
                          <a:cs typeface="Helvetica Neue"/>
                        </a:rPr>
                        <a:t>Build the channel-aware interactions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9E33A31-725B-4BD4-A53B-ED4B0F19CB11}"/>
              </a:ext>
            </a:extLst>
          </p:cNvPr>
          <p:cNvSpPr>
            <a:spLocks xmlns:a="http://schemas.openxmlformats.org/drawingml/2006/main" noGrp="1"/>
          </p:cNvSpPr>
          <p:nvPr/>
        </p:nvSpPr>
        <p:spPr>
          <a:xfrm xmlns:a="http://schemas.openxmlformats.org/drawingml/2006/main">
            <a:off x="723900" y="5610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Helvetica Neue"/>
                <a:ea typeface="Helvetica Neue"/>
                <a:cs typeface="Helvetica Neue"/>
              </a:defRPr>
            </a:pPr>
            <a:r>
              <a:rPr sz="2175" b="0">
                <a:solidFill>
                  <a:srgbClr val="202124"/>
                </a:solidFill>
                <a:latin typeface="Helvetica Neue"/>
                <a:ea typeface="Helvetica Neue"/>
                <a:cs typeface="Helvetica Neue"/>
              </a:rPr>
              <a:t>Build local factors. Carry memory across chunks. Read outputs.</a:t>
            </a:r>
          </a:p>
        </p:txBody>
      </p:sp>
    </p:spTree>
    <p:extLst>
      <p:ext uri="{BB962C8B-B14F-4D97-AF65-F5344CB8AC3E}">
        <p14:creationId xmlns:p14="http://schemas.microsoft.com/office/powerpoint/2010/main" val="16359865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B5873B-6838-4DC3-83A8-8A0972B58225}"/>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Implementation and correctness</a:t>
            </a:r>
          </a:p>
        </p:txBody>
      </p:sp>
      <p:sp>
        <p:nvSpPr>
          <p:cNvPr id="2" name="">
            <a:extLst xmlns:a="http://schemas.openxmlformats.org/drawingml/2006/main">
              <a:ext uri="{FF2B5EF4-FFF2-40B4-BE49-F238E27FC236}">
                <a16:creationId xmlns:a16="http://schemas.microsoft.com/office/drawing/2014/main" id="{CF5E2217-797D-4BB2-9374-1DBDC3B73B0B}"/>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764DA3BA-2AEA-47E8-9FA6-79FCF89B8567}"/>
              </a:ext>
            </a:extLst>
          </p:cNvPr>
          <p:cNvSpPr>
            <a:spLocks xmlns:a="http://schemas.openxmlformats.org/drawingml/2006/main" noGrp="1"/>
          </p:cNvSpPr>
          <p:nvPr/>
        </p:nvSpPr>
        <p:spPr>
          <a:xfrm xmlns:a="http://schemas.openxmlformats.org/drawingml/2006/main">
            <a:off x="723900" y="19240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24634B"/>
                </a:solidFill>
                <a:latin typeface="Helvetica Neue"/>
                <a:ea typeface="Helvetica Neue"/>
                <a:cs typeface="Helvetica Neue"/>
              </a:defRPr>
            </a:pPr>
            <a:r>
              <a:rPr sz="2925" b="0">
                <a:solidFill>
                  <a:srgbClr val="24634B"/>
                </a:solidFill>
                <a:latin typeface="Helvetica Neue"/>
                <a:ea typeface="Helvetica Neue"/>
                <a:cs typeface="Helvetica Neue"/>
              </a:rPr>
              <a:t>Forward pass only</a:t>
            </a:r>
          </a:p>
        </p:txBody>
      </p:sp>
      <p:sp>
        <p:nvSpPr>
          <p:cNvPr id="4" name="">
            <a:extLst xmlns:a="http://schemas.openxmlformats.org/drawingml/2006/main">
              <a:ext uri="{FF2B5EF4-FFF2-40B4-BE49-F238E27FC236}">
                <a16:creationId xmlns:a16="http://schemas.microsoft.com/office/drawing/2014/main" id="{A2007E8E-689A-413D-BAEC-DC56F6DE998B}"/>
              </a:ext>
            </a:extLst>
          </p:cNvPr>
          <p:cNvSpPr>
            <a:spLocks xmlns:a="http://schemas.openxmlformats.org/drawingml/2006/main" noGrp="1"/>
          </p:cNvSpPr>
          <p:nvPr/>
        </p:nvSpPr>
        <p:spPr>
          <a:xfrm xmlns:a="http://schemas.openxmlformats.org/drawingml/2006/main">
            <a:off x="723900" y="26860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124"/>
                </a:solidFill>
                <a:latin typeface="Helvetica Neue"/>
                <a:ea typeface="Helvetica Neue"/>
                <a:cs typeface="Helvetica Neue"/>
              </a:defRPr>
            </a:pPr>
            <a:r>
              <a:rPr sz="2250" b="0">
                <a:solidFill>
                  <a:srgbClr val="202124"/>
                </a:solidFill>
                <a:latin typeface="Helvetica Neue"/>
                <a:ea typeface="Helvetica Neue"/>
                <a:cs typeface="Helvetica Neue"/>
              </a:rPr>
              <a:t>P1 uses PyTorch. P2–P9 use Triton on CUDA.</a:t>
            </a:r>
          </a:p>
        </p:txBody>
      </p:sp>
      <p:sp>
        <p:nvSpPr>
          <p:cNvPr id="5" name="">
            <a:extLst xmlns:a="http://schemas.openxmlformats.org/drawingml/2006/main">
              <a:ext uri="{FF2B5EF4-FFF2-40B4-BE49-F238E27FC236}">
                <a16:creationId xmlns:a16="http://schemas.microsoft.com/office/drawing/2014/main" id="{A9276A0B-C21A-4DFD-B062-8B0075230784}"/>
              </a:ext>
            </a:extLst>
          </p:cNvPr>
          <p:cNvSpPr>
            <a:spLocks xmlns:a="http://schemas.openxmlformats.org/drawingml/2006/main" noGrp="1"/>
          </p:cNvSpPr>
          <p:nvPr/>
        </p:nvSpPr>
        <p:spPr>
          <a:xfrm xmlns:a="http://schemas.openxmlformats.org/drawingml/2006/main">
            <a:off x="723900" y="3619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124"/>
                </a:solidFill>
                <a:latin typeface="Helvetica Neue"/>
                <a:ea typeface="Helvetica Neue"/>
                <a:cs typeface="Helvetica Neue"/>
              </a:defRPr>
            </a:pPr>
            <a:r>
              <a:rPr sz="2325" b="0">
                <a:solidFill>
                  <a:srgbClr val="202124"/>
                </a:solidFill>
                <a:latin typeface="Helvetica Neue"/>
                <a:ea typeface="Helvetica Neue"/>
                <a:cs typeface="Helvetica Neue"/>
              </a:rPr>
              <a:t>The checker compares outputs and final state</a:t>
            </a:r>
          </a:p>
          <a:p xmlns:a="http://schemas.openxmlformats.org/drawingml/2006/main">
            <a:pPr>
              <a:defRPr sz="2325" b="0">
                <a:solidFill>
                  <a:srgbClr val="202124"/>
                </a:solidFill>
                <a:latin typeface="Helvetica Neue"/>
                <a:ea typeface="Helvetica Neue"/>
                <a:cs typeface="Helvetica Neue"/>
              </a:defRPr>
            </a:pPr>
            <a:r>
              <a:rPr sz="2325" b="0">
                <a:solidFill>
                  <a:srgbClr val="202124"/>
                </a:solidFill>
                <a:latin typeface="Helvetica Neue"/>
                <a:ea typeface="Helvetica Neue"/>
                <a:cs typeface="Helvetica Neue"/>
              </a:rPr>
              <a:t>against an independent recurrence.</a:t>
            </a:r>
          </a:p>
        </p:txBody>
      </p:sp>
      <p:sp>
        <p:nvSpPr>
          <p:cNvPr id="6" name="">
            <a:extLst xmlns:a="http://schemas.openxmlformats.org/drawingml/2006/main">
              <a:ext uri="{FF2B5EF4-FFF2-40B4-BE49-F238E27FC236}">
                <a16:creationId xmlns:a16="http://schemas.microsoft.com/office/drawing/2014/main" id="{FE2C7A8D-4C47-4767-A88B-D8594FA8D576}"/>
              </a:ext>
            </a:extLst>
          </p:cNvPr>
          <p:cNvSpPr>
            <a:spLocks xmlns:a="http://schemas.openxmlformats.org/drawingml/2006/main" noGrp="1"/>
          </p:cNvSpPr>
          <p:nvPr/>
        </p:nvSpPr>
        <p:spPr>
          <a:xfrm xmlns:a="http://schemas.openxmlformats.org/drawingml/2006/main">
            <a:off x="723900" y="50482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63D32"/>
                </a:solidFill>
                <a:latin typeface="Helvetica Neue"/>
                <a:ea typeface="Helvetica Neue"/>
                <a:cs typeface="Helvetica Neue"/>
              </a:defRPr>
            </a:pPr>
            <a:r>
              <a:rPr sz="2175" b="0">
                <a:solidFill>
                  <a:srgbClr val="A63D32"/>
                </a:solidFill>
                <a:latin typeface="Helvetica Neue"/>
                <a:ea typeface="Helvetica Neue"/>
                <a:cs typeface="Helvetica Neue"/>
              </a:rPr>
              <a:t>Important cases</a:t>
            </a:r>
          </a:p>
        </p:txBody>
      </p:sp>
      <p:sp>
        <p:nvSpPr>
          <p:cNvPr id="7" name="">
            <a:extLst xmlns:a="http://schemas.openxmlformats.org/drawingml/2006/main">
              <a:ext uri="{FF2B5EF4-FFF2-40B4-BE49-F238E27FC236}">
                <a16:creationId xmlns:a16="http://schemas.microsoft.com/office/drawing/2014/main" id="{5FEBD2D3-4D97-463B-BE27-5D876594424C}"/>
              </a:ext>
            </a:extLst>
          </p:cNvPr>
          <p:cNvSpPr>
            <a:spLocks xmlns:a="http://schemas.openxmlformats.org/drawingml/2006/main" noGrp="1"/>
          </p:cNvSpPr>
          <p:nvPr/>
        </p:nvSpPr>
        <p:spPr>
          <a:xfrm xmlns:a="http://schemas.openxmlformats.org/drawingml/2006/main">
            <a:off x="723900" y="55626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124"/>
                </a:solidFill>
                <a:latin typeface="Helvetica Neue"/>
                <a:ea typeface="Helvetica Neue"/>
                <a:cs typeface="Helvetica Neue"/>
              </a:defRPr>
            </a:pPr>
            <a:r>
              <a:rPr sz="2100" b="0">
                <a:solidFill>
                  <a:srgbClr val="202124"/>
                </a:solidFill>
                <a:latin typeface="Helvetica Neue"/>
                <a:ea typeface="Helvetica Neue"/>
                <a:cs typeface="Helvetica Neue"/>
              </a:rPr>
              <a:t>Partial chunks, nonzero memory, unequal dimensions</a:t>
            </a:r>
          </a:p>
          <a:p xmlns:a="http://schemas.openxmlformats.org/drawingml/2006/main">
            <a:pPr>
              <a:defRPr sz="2100" b="0">
                <a:solidFill>
                  <a:srgbClr val="202124"/>
                </a:solidFill>
                <a:latin typeface="Helvetica Neue"/>
                <a:ea typeface="Helvetica Neue"/>
                <a:cs typeface="Helvetica Neue"/>
              </a:defRPr>
            </a:pPr>
            <a:r>
              <a:rPr sz="2100" b="0">
                <a:solidFill>
                  <a:srgbClr val="202124"/>
                </a:solidFill>
                <a:latin typeface="Helvetica Neue"/>
                <a:ea typeface="Helvetica Neue"/>
                <a:cs typeface="Helvetica Neue"/>
              </a:rPr>
              <a:t>and state carried between two calls.</a:t>
            </a:r>
          </a:p>
        </p:txBody>
      </p:sp>
    </p:spTree>
    <p:extLst>
      <p:ext uri="{BB962C8B-B14F-4D97-AF65-F5344CB8AC3E}">
        <p14:creationId xmlns:p14="http://schemas.microsoft.com/office/powerpoint/2010/main" val="6652994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2F3A6A-883A-40D8-9514-28451B226635}"/>
              </a:ext>
            </a:extLst>
          </p:cNvPr>
          <p:cNvSpPr>
            <a:spLocks xmlns:a="http://schemas.openxmlformats.org/drawingml/2006/main" noGrp="1"/>
          </p:cNvSpPr>
          <p:nvPr/>
        </p:nvSpPr>
        <p:spPr>
          <a:xfrm xmlns:a="http://schemas.openxmlformats.org/drawingml/2006/main">
            <a:off x="685800" y="476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02124"/>
                </a:solidFill>
                <a:latin typeface="Helvetica Neue"/>
                <a:ea typeface="Helvetica Neue"/>
                <a:cs typeface="Helvetica Neue"/>
              </a:defRPr>
            </a:pPr>
            <a:r>
              <a:rPr sz="3225" b="0">
                <a:solidFill>
                  <a:srgbClr val="202124"/>
                </a:solidFill>
                <a:latin typeface="Helvetica Neue"/>
                <a:ea typeface="Helvetica Neue"/>
                <a:cs typeface="Helvetica Neue"/>
              </a:rPr>
              <a:t>The first implementation session</a:t>
            </a:r>
          </a:p>
        </p:txBody>
      </p:sp>
      <p:sp>
        <p:nvSpPr>
          <p:cNvPr id="2" name="">
            <a:extLst xmlns:a="http://schemas.openxmlformats.org/drawingml/2006/main">
              <a:ext uri="{FF2B5EF4-FFF2-40B4-BE49-F238E27FC236}">
                <a16:creationId xmlns:a16="http://schemas.microsoft.com/office/drawing/2014/main" id="{29ADD8CA-B95C-4841-BAC3-2E41406AD738}"/>
              </a:ext>
            </a:extLst>
          </p:cNvPr>
          <p:cNvSpPr>
            <a:spLocks xmlns:a="http://schemas.openxmlformats.org/drawingml/2006/main" noGrp="1"/>
          </p:cNvSpPr>
          <p:nvPr/>
        </p:nvSpPr>
        <p:spPr>
          <a:xfrm xmlns:a="http://schemas.openxmlformats.org/drawingml/2006/main">
            <a:off x="11191875" y="6353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66C70"/>
                </a:solidFill>
                <a:latin typeface="Helvetica Neue"/>
                <a:ea typeface="Helvetica Neue"/>
                <a:cs typeface="Helvetica Neue"/>
              </a:defRPr>
            </a:pPr>
            <a:r>
              <a:rPr sz="1200" b="0">
                <a:solidFill>
                  <a:srgbClr val="666C70"/>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133BE9FB-FCF2-45E5-B6EE-C1D8F7250B06}"/>
              </a:ext>
            </a:extLst>
          </p:cNvPr>
          <p:cNvSpPr>
            <a:spLocks xmlns:a="http://schemas.openxmlformats.org/drawingml/2006/main" noGrp="1"/>
          </p:cNvSpPr>
          <p:nvPr/>
        </p:nvSpPr>
        <p:spPr>
          <a:xfrm xmlns:a="http://schemas.openxmlformats.org/drawingml/2006/main">
            <a:off x="733425" y="19812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4634B"/>
                </a:solidFill>
                <a:latin typeface="Helvetica Neue"/>
                <a:ea typeface="Helvetica Neue"/>
                <a:cs typeface="Helvetica Neue"/>
              </a:defRPr>
            </a:pPr>
            <a:r>
              <a:rPr sz="2850" b="0">
                <a:solidFill>
                  <a:srgbClr val="24634B"/>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DDCC6DB8-A243-44E4-A25E-97452A647F0E}"/>
              </a:ext>
            </a:extLst>
          </p:cNvPr>
          <p:cNvSpPr>
            <a:spLocks xmlns:a="http://schemas.openxmlformats.org/drawingml/2006/main" noGrp="1"/>
          </p:cNvSpPr>
          <p:nvPr/>
        </p:nvSpPr>
        <p:spPr>
          <a:xfrm xmlns:a="http://schemas.openxmlformats.org/drawingml/2006/main">
            <a:off x="1485900" y="200977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124"/>
                </a:solidFill>
                <a:latin typeface="Helvetica Neue"/>
                <a:ea typeface="Helvetica Neue"/>
                <a:cs typeface="Helvetica Neue"/>
              </a:defRPr>
            </a:pPr>
            <a:r>
              <a:rPr sz="2475" b="0">
                <a:solidFill>
                  <a:srgbClr val="202124"/>
                </a:solidFill>
                <a:latin typeface="Helvetica Neue"/>
                <a:ea typeface="Helvetica Neue"/>
                <a:cs typeface="Helvetica Neue"/>
              </a:rPr>
              <a:t>Read the overview and P1 mathematics.</a:t>
            </a:r>
          </a:p>
        </p:txBody>
      </p:sp>
      <p:sp>
        <p:nvSpPr>
          <p:cNvPr id="5" name="">
            <a:extLst xmlns:a="http://schemas.openxmlformats.org/drawingml/2006/main">
              <a:ext uri="{FF2B5EF4-FFF2-40B4-BE49-F238E27FC236}">
                <a16:creationId xmlns:a16="http://schemas.microsoft.com/office/drawing/2014/main" id="{46C2CDEE-6A1C-4906-8614-B84F5C06B41E}"/>
              </a:ext>
            </a:extLst>
          </p:cNvPr>
          <p:cNvSpPr>
            <a:spLocks xmlns:a="http://schemas.openxmlformats.org/drawingml/2006/main" noGrp="1"/>
          </p:cNvSpPr>
          <p:nvPr/>
        </p:nvSpPr>
        <p:spPr>
          <a:xfrm xmlns:a="http://schemas.openxmlformats.org/drawingml/2006/main">
            <a:off x="733425" y="30575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4634B"/>
                </a:solidFill>
                <a:latin typeface="Helvetica Neue"/>
                <a:ea typeface="Helvetica Neue"/>
                <a:cs typeface="Helvetica Neue"/>
              </a:defRPr>
            </a:pPr>
            <a:r>
              <a:rPr sz="2850" b="0">
                <a:solidFill>
                  <a:srgbClr val="24634B"/>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6C4A8BE5-3EAF-4989-822A-FE32992ADBB7}"/>
              </a:ext>
            </a:extLst>
          </p:cNvPr>
          <p:cNvSpPr>
            <a:spLocks xmlns:a="http://schemas.openxmlformats.org/drawingml/2006/main" noGrp="1"/>
          </p:cNvSpPr>
          <p:nvPr/>
        </p:nvSpPr>
        <p:spPr>
          <a:xfrm xmlns:a="http://schemas.openxmlformats.org/drawingml/2006/main">
            <a:off x="1485900" y="30861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124"/>
                </a:solidFill>
                <a:latin typeface="Helvetica Neue"/>
                <a:ea typeface="Helvetica Neue"/>
                <a:cs typeface="Helvetica Neue"/>
              </a:defRPr>
            </a:pPr>
            <a:r>
              <a:rPr sz="2475" b="0">
                <a:solidFill>
                  <a:srgbClr val="202124"/>
                </a:solidFill>
                <a:latin typeface="Helvetica Neue"/>
                <a:ea typeface="Helvetica Neue"/>
                <a:cs typeface="Helvetica Neue"/>
              </a:rPr>
              <a:t>Implement the sequential and chunked forms.</a:t>
            </a:r>
          </a:p>
        </p:txBody>
      </p:sp>
      <p:sp>
        <p:nvSpPr>
          <p:cNvPr id="7" name="">
            <a:extLst xmlns:a="http://schemas.openxmlformats.org/drawingml/2006/main">
              <a:ext uri="{FF2B5EF4-FFF2-40B4-BE49-F238E27FC236}">
                <a16:creationId xmlns:a16="http://schemas.microsoft.com/office/drawing/2014/main" id="{CEA4D0D0-2D63-4676-91D3-595A831FAF17}"/>
              </a:ext>
            </a:extLst>
          </p:cNvPr>
          <p:cNvSpPr>
            <a:spLocks xmlns:a="http://schemas.openxmlformats.org/drawingml/2006/main" noGrp="1"/>
          </p:cNvSpPr>
          <p:nvPr/>
        </p:nvSpPr>
        <p:spPr>
          <a:xfrm xmlns:a="http://schemas.openxmlformats.org/drawingml/2006/main">
            <a:off x="733425" y="41338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4634B"/>
                </a:solidFill>
                <a:latin typeface="Helvetica Neue"/>
                <a:ea typeface="Helvetica Neue"/>
                <a:cs typeface="Helvetica Neue"/>
              </a:defRPr>
            </a:pPr>
            <a:r>
              <a:rPr sz="2850" b="0">
                <a:solidFill>
                  <a:srgbClr val="24634B"/>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739CE716-E258-4EDF-91B8-D1E5926AC85C}"/>
              </a:ext>
            </a:extLst>
          </p:cNvPr>
          <p:cNvSpPr>
            <a:spLocks xmlns:a="http://schemas.openxmlformats.org/drawingml/2006/main" noGrp="1"/>
          </p:cNvSpPr>
          <p:nvPr/>
        </p:nvSpPr>
        <p:spPr>
          <a:xfrm xmlns:a="http://schemas.openxmlformats.org/drawingml/2006/main">
            <a:off x="1485900" y="41624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124"/>
                </a:solidFill>
                <a:latin typeface="Helvetica Neue"/>
                <a:ea typeface="Helvetica Neue"/>
                <a:cs typeface="Helvetica Neue"/>
              </a:defRPr>
            </a:pPr>
            <a:r>
              <a:rPr sz="2475" b="0">
                <a:solidFill>
                  <a:srgbClr val="202124"/>
                </a:solidFill>
                <a:latin typeface="Helvetica Neue"/>
                <a:ea typeface="Helvetica Neue"/>
                <a:cs typeface="Helvetica Neue"/>
              </a:rPr>
              <a:t>Check both outputs and the final memory.</a:t>
            </a:r>
          </a:p>
        </p:txBody>
      </p:sp>
      <p:sp>
        <p:nvSpPr>
          <p:cNvPr id="9" name="">
            <a:extLst xmlns:a="http://schemas.openxmlformats.org/drawingml/2006/main">
              <a:ext uri="{FF2B5EF4-FFF2-40B4-BE49-F238E27FC236}">
                <a16:creationId xmlns:a16="http://schemas.microsoft.com/office/drawing/2014/main" id="{E52C8AD7-1A81-4F1E-9EC5-5CAD7B4350E3}"/>
              </a:ext>
            </a:extLst>
          </p:cNvPr>
          <p:cNvSpPr>
            <a:spLocks xmlns:a="http://schemas.openxmlformats.org/drawingml/2006/main" noGrp="1"/>
          </p:cNvSpPr>
          <p:nvPr/>
        </p:nvSpPr>
        <p:spPr>
          <a:xfrm xmlns:a="http://schemas.openxmlformats.org/drawingml/2006/main">
            <a:off x="742950" y="5429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JetBrains Mono"/>
                <a:ea typeface="JetBrains Mono"/>
                <a:cs typeface="JetBrains Mono"/>
              </a:defRPr>
            </a:pPr>
            <a:r>
              <a:rPr sz="2175" b="0">
                <a:solidFill>
                  <a:srgbClr val="202124"/>
                </a:solidFill>
                <a:latin typeface="JetBrains Mono"/>
                <a:ea typeface="JetBrains Mono"/>
                <a:cs typeface="JetBrains Mono"/>
              </a:rPr>
              <a:t>python autograder.py --p1 --device cpu</a:t>
            </a:r>
          </a:p>
        </p:txBody>
      </p:sp>
      <p:sp>
        <p:nvSpPr>
          <p:cNvPr id="10" name="">
            <a:extLst xmlns:a="http://schemas.openxmlformats.org/drawingml/2006/main">
              <a:ext uri="{FF2B5EF4-FFF2-40B4-BE49-F238E27FC236}">
                <a16:creationId xmlns:a16="http://schemas.microsoft.com/office/drawing/2014/main" id="{9B12FEB1-D67F-4812-94AE-D3C9BB42AFFD}"/>
              </a:ext>
            </a:extLst>
          </p:cNvPr>
          <p:cNvSpPr>
            <a:spLocks xmlns:a="http://schemas.openxmlformats.org/drawingml/2006/main" noGrp="1"/>
          </p:cNvSpPr>
          <p:nvPr/>
        </p:nvSpPr>
        <p:spPr>
          <a:xfrm xmlns:a="http://schemas.openxmlformats.org/drawingml/2006/main">
            <a:off x="742950" y="60483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C70"/>
                </a:solidFill>
                <a:latin typeface="Helvetica Neue"/>
                <a:ea typeface="Helvetica Neue"/>
                <a:cs typeface="Helvetica Neue"/>
              </a:defRPr>
            </a:pPr>
            <a:r>
              <a:rPr sz="1575" b="0">
                <a:solidFill>
                  <a:srgbClr val="666C70"/>
                </a:solidFill>
                <a:latin typeface="Helvetica Neue"/>
                <a:ea typeface="Helvetica Neue"/>
                <a:cs typeface="Helvetica Neue"/>
              </a:rPr>
              <a:t>Run from the GStar-Assignment-2 folder. Readings: docs/README.md</a:t>
            </a:r>
          </a:p>
        </p:txBody>
      </p:sp>
    </p:spTree>
    <p:extLst>
      <p:ext uri="{BB962C8B-B14F-4D97-AF65-F5344CB8AC3E}">
        <p14:creationId xmlns:p14="http://schemas.microsoft.com/office/powerpoint/2010/main" val="916546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2026-10-14T11:42:03.8190000Z</dcterms:created>
  <dcterms:modified xsi:type="dcterms:W3CDTF">2026-10-14T11:42:03.8190000Z</dcterms:modified>
</coreProperties>
</file>